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15 秒。介绍课程项目与平台。成员 A/B/C 为建议分工角色，演示前替换为真实姓名。强调这是本机可运行初版，不承诺未验收的平台。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25 秒。A 介绍基本闭环及文件类型和筛选，B 补充算法。实时是元数据轮询，不是内核事件或无限实时保证。依赖库和限制在后续页面明确。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25 秒。A 说明 CLI 与 GUI 不是两套复制的备份逻辑。此页为文字化模块说明，不是 UML 图。说明备份先扫描、再打包压缩、再封装，恢复先验证，再写私有暂存，最后不覆盖发布。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25 秒。B 解释自研打包与 Huffman，以及先压缩后加密。密码方案使用系统库，不宣称自研 AES；按教师规则说明扩展分可能折半。GUI 也使用系统框架。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25 秒。C 解释 72 项是命名测试用例数量，12 项是 GUI 内部动作断言，不能混加。持续运行只有十分钟，不是整夜稳定性证明。文件选择器与真实点击还需要人工验收。十分钟稳定运行与变异输入数字来自初版记录；本轮 72 项包含新增调度回归。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30 秒。用角色代号说明建议分工，各 30 点，约各三分之一；不是已发生贡献。A 文件与恢复，B 格式与算法，C 界面与自动任务。公共接口一起评审，三人都要能独立构建和演示。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25 秒。A 操作基础流程，B 补充压缩加密，C 展示自动任务和测试。演示使用 scripts/demo.sh 的独立副本，恢复目标必须是新目录。不要备份真实个人文件或在截图中展示密码。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建议 10 秒。简要说明已知边界与接下来三人各自承担的验收。源码、可执行程序和构建脚本已经具备。UML 按指导手工完成，PPT 为本轮提供的可编辑初稿；个人信息、视频和证书由本人补充。</a:t>
            </a:r>
            <a:endParaRPr lang="zh-CN" sz="1350"/>
          </a:p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依据：项目源码；test-results/summary.json、unit.xml、integration.json、security.json；docs/07_三人分工与协作方案.md。截图为应用自身离屏预览。</a:t>
            </a:r>
            <a:endParaRPr lang="zh-CN" sz="135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quirre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1-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-7-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松鼠备份">
    <p:bg>
      <p:bgPr>
        <a:solidFill>
          <a:srgbClr val="222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1285875"/>
            <a:ext cx="5524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242"/>
              </a:lnSpc>
              <a:buNone/>
            </a:pPr>
            <a:r>
              <a:rPr lang="zh-CN"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松鼠备份</a:t>
            </a:r>
            <a:endParaRPr lang="zh-CN" sz="5100"/>
          </a:p>
        </p:txBody>
      </p:sp>
      <p:sp>
        <p:nvSpPr>
          <p:cNvPr id="3" name="Text 3"/>
          <p:cNvSpPr txBox="1"/>
          <p:nvPr/>
        </p:nvSpPr>
        <p:spPr>
          <a:xfrm>
            <a:off x="647700" y="2343150"/>
            <a:ext cx="5334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27"/>
              </a:lnSpc>
              <a:buNone/>
            </a:pPr>
            <a:r>
              <a:rPr lang="zh-CN" sz="2625" b="0">
                <a:solidFill>
                  <a:srgbClr val="C9CFCC"/>
                </a:solidFill>
                <a:latin typeface="Arial Unicode MS"/>
                <a:ea typeface="Arial Unicode MS"/>
                <a:cs typeface="Arial Unicode MS"/>
              </a:rPr>
              <a:t xml:space="preserve">Squirrel Backup</a:t>
            </a:r>
            <a:endParaRPr lang="zh-CN" sz="2625"/>
          </a:p>
        </p:txBody>
      </p:sp>
      <p:sp>
        <p:nvSpPr>
          <p:cNvPr id="4" name="Text 4"/>
          <p:cNvSpPr txBox="1"/>
          <p:nvPr/>
        </p:nvSpPr>
        <p:spPr>
          <a:xfrm>
            <a:off x="647700" y="310515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E5AE94"/>
                </a:solidFill>
                <a:latin typeface="Arial Unicode MS"/>
                <a:ea typeface="Arial Unicode MS"/>
                <a:cs typeface="Arial Unicode MS"/>
              </a:rPr>
              <a:t xml:space="preserve">软件开发综合实验</a:t>
            </a:r>
            <a:endParaRPr lang="zh-CN" sz="2025"/>
          </a:p>
        </p:txBody>
      </p:sp>
      <p:sp>
        <p:nvSpPr>
          <p:cNvPr id="5" name="Text 5"/>
          <p:cNvSpPr txBox="1"/>
          <p:nvPr/>
        </p:nvSpPr>
        <p:spPr>
          <a:xfrm>
            <a:off x="647700" y="3752850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macOS 原生应用</a:t>
            </a:r>
            <a:endParaRPr lang="zh-CN" sz="1950"/>
          </a:p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C++17 业务核心 · GUI 与 CLI</a:t>
            </a:r>
            <a:endParaRPr lang="zh-CN" sz="1950"/>
          </a:p>
        </p:txBody>
      </p:sp>
      <p:sp>
        <p:nvSpPr>
          <p:cNvPr id="6" name="Text 6"/>
          <p:cNvSpPr txBox="1"/>
          <p:nvPr/>
        </p:nvSpPr>
        <p:spPr>
          <a:xfrm>
            <a:off x="647700" y="5686425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37"/>
              </a:lnSpc>
              <a:buNone/>
            </a:pPr>
            <a:r>
              <a:rPr lang="zh-CN" sz="1575" b="0">
                <a:solidFill>
                  <a:srgbClr val="BBC4C1"/>
                </a:solidFill>
                <a:latin typeface="Arial Unicode MS"/>
                <a:ea typeface="Arial Unicode MS"/>
                <a:cs typeface="Arial Unicode MS"/>
              </a:rPr>
              <a:t xml:space="preserve">三人协作方案与项目演示</a:t>
            </a:r>
            <a:endParaRPr lang="zh-CN" sz="1575"/>
          </a:p>
        </p:txBody>
      </p:sp>
      <p:pic>
        <p:nvPicPr>
          <p:cNvPr id="7" name="Product preview 7" descr="松鼠备份应用离屏预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409700"/>
            <a:ext cx="5486400" cy="4013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已实现的本地备份功能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已实现的本地备份功能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2</a:t>
            </a:r>
            <a:endParaRPr lang="zh-CN" sz="1275"/>
          </a:p>
        </p:txBody>
      </p:sp>
      <p:sp>
        <p:nvSpPr>
          <p:cNvPr id="4" name="Text 4"/>
          <p:cNvSpPr txBox="1"/>
          <p:nvPr/>
        </p:nvSpPr>
        <p:spPr>
          <a:xfrm>
            <a:off x="619125" y="142875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基础流程</a:t>
            </a:r>
            <a:endParaRPr lang="zh-CN" sz="2400"/>
          </a:p>
        </p:txBody>
      </p:sp>
      <p:sp>
        <p:nvSpPr>
          <p:cNvPr id="5" name="Text 5"/>
          <p:cNvSpPr txBox="1"/>
          <p:nvPr/>
        </p:nvSpPr>
        <p:spPr>
          <a:xfrm>
            <a:off x="619125" y="2047875"/>
            <a:ext cx="5143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目录树备份与安全还原</a:t>
            </a:r>
            <a:endParaRPr lang="zh-CN" sz="2250"/>
          </a:p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完整性检查与内容查看</a:t>
            </a:r>
            <a:endParaRPr lang="zh-CN" sz="2250"/>
          </a:p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已有目标拒绝覆盖</a:t>
            </a:r>
            <a:endParaRPr lang="zh-CN" sz="2250"/>
          </a:p>
        </p:txBody>
      </p:sp>
      <p:sp>
        <p:nvSpPr>
          <p:cNvPr id="6" name="Text 6"/>
          <p:cNvSpPr txBox="1"/>
          <p:nvPr/>
        </p:nvSpPr>
        <p:spPr>
          <a:xfrm>
            <a:off x="6477000" y="142875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文件与选项</a:t>
            </a:r>
            <a:endParaRPr lang="zh-CN" sz="2400"/>
          </a:p>
        </p:txBody>
      </p:sp>
      <p:sp>
        <p:nvSpPr>
          <p:cNvPr id="7" name="Text 7"/>
          <p:cNvSpPr txBox="1"/>
          <p:nvPr/>
        </p:nvSpPr>
        <p:spPr>
          <a:xfrm>
            <a:off x="6477000" y="2047875"/>
            <a:ext cx="504825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软硬链接、FIFO、基础元数据</a:t>
            </a:r>
            <a:endParaRPr lang="zh-CN" sz="1950"/>
          </a:p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路径／类型／名字／时间／尺寸／UID 筛选</a:t>
            </a:r>
            <a:endParaRPr lang="zh-CN" sz="1950"/>
          </a:p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自定义打包、Huffman、密码保护</a:t>
            </a:r>
            <a:endParaRPr lang="zh-CN" sz="1950"/>
          </a:p>
        </p:txBody>
      </p:sp>
      <p:sp>
        <p:nvSpPr>
          <p:cNvPr id="8" name="Text 8"/>
          <p:cNvSpPr txBox="1"/>
          <p:nvPr/>
        </p:nvSpPr>
        <p:spPr>
          <a:xfrm>
            <a:off x="619125" y="428625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自动任务</a:t>
            </a:r>
            <a:endParaRPr lang="zh-CN" sz="2400"/>
          </a:p>
        </p:txBody>
      </p:sp>
      <p:sp>
        <p:nvSpPr>
          <p:cNvPr id="9" name="Text 9"/>
          <p:cNvSpPr txBox="1"/>
          <p:nvPr/>
        </p:nvSpPr>
        <p:spPr>
          <a:xfrm>
            <a:off x="619125" y="4905375"/>
            <a:ext cx="10810875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82"/>
              </a:lnSpc>
              <a:buNone/>
            </a:pPr>
            <a:r>
              <a:rPr lang="zh-CN" sz="210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定时完整快照、任务内保留与淘汰</a:t>
            </a:r>
            <a:endParaRPr lang="zh-CN" sz="2100"/>
          </a:p>
          <a:p>
            <a:pPr algn="l">
              <a:lnSpc>
                <a:spcPts val="2982"/>
              </a:lnSpc>
              <a:buNone/>
            </a:pPr>
            <a:r>
              <a:rPr lang="zh-CN" sz="210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轮询变化检测，稳定后自动备份</a:t>
            </a:r>
            <a:endParaRPr lang="zh-CN" sz="2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一个 C++ 核心服务两个入口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一个 C++ 核心服务两个入口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3</a:t>
            </a:r>
            <a:endParaRPr lang="zh-CN" sz="1275"/>
          </a:p>
        </p:txBody>
      </p:sp>
      <p:sp>
        <p:nvSpPr>
          <p:cNvPr id="4" name="Text 4"/>
          <p:cNvSpPr txBox="1"/>
          <p:nvPr/>
        </p:nvSpPr>
        <p:spPr>
          <a:xfrm>
            <a:off x="609600" y="1428750"/>
            <a:ext cx="2238375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入口</a:t>
            </a:r>
            <a:endParaRPr lang="zh-CN" sz="2400"/>
          </a:p>
        </p:txBody>
      </p:sp>
      <p:sp>
        <p:nvSpPr>
          <p:cNvPr id="5" name="Text 5"/>
          <p:cNvSpPr txBox="1"/>
          <p:nvPr/>
        </p:nvSpPr>
        <p:spPr>
          <a:xfrm>
            <a:off x="609600" y="2114550"/>
            <a:ext cx="23812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Cocoa GUI</a:t>
            </a:r>
            <a:endParaRPr lang="zh-CN" sz="2400"/>
          </a:p>
          <a:p>
            <a:pPr algn="l">
              <a:lnSpc>
                <a:spcPts val="3408"/>
              </a:lnSpc>
              <a:buNone/>
            </a:pPr>
            <a:r>
              <a:rPr lang="zh-CN" sz="240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命令行 CLI</a:t>
            </a:r>
            <a:endParaRPr lang="zh-CN" sz="2400"/>
          </a:p>
        </p:txBody>
      </p:sp>
      <p:sp>
        <p:nvSpPr>
          <p:cNvPr id="6" name="Text 6"/>
          <p:cNvSpPr txBox="1"/>
          <p:nvPr/>
        </p:nvSpPr>
        <p:spPr>
          <a:xfrm>
            <a:off x="3714750" y="1428750"/>
            <a:ext cx="43815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8"/>
              </a:lnSpc>
              <a:buNone/>
            </a:pPr>
            <a:r>
              <a:rPr lang="zh-CN" sz="240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核心接口</a:t>
            </a:r>
            <a:endParaRPr lang="zh-CN" sz="2400"/>
          </a:p>
        </p:txBody>
      </p:sp>
      <p:sp>
        <p:nvSpPr>
          <p:cNvPr id="7" name="Text 7"/>
          <p:cNvSpPr txBox="1"/>
          <p:nvPr/>
        </p:nvSpPr>
        <p:spPr>
          <a:xfrm>
            <a:off x="3714750" y="2114550"/>
            <a:ext cx="7239000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BackupService</a:t>
            </a:r>
            <a:endParaRPr lang="zh-CN" sz="2250"/>
          </a:p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backup · inspect · restore</a:t>
            </a:r>
            <a:endParaRPr lang="zh-CN" sz="2250"/>
          </a:p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Scheduler 复用同一核心</a:t>
            </a:r>
            <a:endParaRPr lang="zh-CN" sz="2250"/>
          </a:p>
        </p:txBody>
      </p:sp>
      <p:sp>
        <p:nvSpPr>
          <p:cNvPr id="8" name="Text 8"/>
          <p:cNvSpPr txBox="1"/>
          <p:nvPr/>
        </p:nvSpPr>
        <p:spPr>
          <a:xfrm>
            <a:off x="609600" y="423862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89"/>
              </a:lnSpc>
              <a:buNone/>
            </a:pPr>
            <a:r>
              <a:rPr lang="zh-CN" sz="2175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备份</a:t>
            </a:r>
            <a:endParaRPr lang="zh-CN" sz="2175"/>
          </a:p>
        </p:txBody>
      </p:sp>
      <p:sp>
        <p:nvSpPr>
          <p:cNvPr id="9" name="Text 9"/>
          <p:cNvSpPr txBox="1"/>
          <p:nvPr/>
        </p:nvSpPr>
        <p:spPr>
          <a:xfrm>
            <a:off x="2714625" y="4219575"/>
            <a:ext cx="8763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63"/>
              </a:lnSpc>
              <a:buNone/>
            </a:pPr>
            <a:r>
              <a:rPr lang="zh-CN" sz="187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扫描与筛选 → 树记录／分块压缩 → 摘要或密码封装 → 发布</a:t>
            </a:r>
            <a:endParaRPr lang="zh-CN" sz="1875"/>
          </a:p>
        </p:txBody>
      </p:sp>
      <p:sp>
        <p:nvSpPr>
          <p:cNvPr id="10" name="Text 10"/>
          <p:cNvSpPr txBox="1"/>
          <p:nvPr/>
        </p:nvSpPr>
        <p:spPr>
          <a:xfrm>
            <a:off x="609600" y="528637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89"/>
              </a:lnSpc>
              <a:buNone/>
            </a:pPr>
            <a:r>
              <a:rPr lang="zh-CN" sz="2175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恢复</a:t>
            </a:r>
            <a:endParaRPr lang="zh-CN" sz="2175"/>
          </a:p>
        </p:txBody>
      </p:sp>
      <p:sp>
        <p:nvSpPr>
          <p:cNvPr id="11" name="Text 11"/>
          <p:cNvSpPr txBox="1"/>
          <p:nvPr/>
        </p:nvSpPr>
        <p:spPr>
          <a:xfrm>
            <a:off x="2714625" y="5267325"/>
            <a:ext cx="87630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63"/>
              </a:lnSpc>
              <a:buNone/>
            </a:pPr>
            <a:r>
              <a:rPr lang="zh-CN" sz="187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验证与解密 → 私有目录解包 → 元数据恢复 → 新目录发布</a:t>
            </a:r>
            <a:endParaRPr lang="zh-CN" sz="1875"/>
          </a:p>
        </p:txBody>
      </p:sp>
      <p:sp>
        <p:nvSpPr>
          <p:cNvPr id="12" name="Text 12"/>
          <p:cNvSpPr txBox="1"/>
          <p:nvPr/>
        </p:nvSpPr>
        <p:spPr>
          <a:xfrm>
            <a:off x="619125" y="6019800"/>
            <a:ext cx="10382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3"/>
              </a:lnSpc>
              <a:buNone/>
            </a:pPr>
            <a:r>
              <a:rPr lang="zh-CN" sz="1650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macOS 15.7.9 · Apple Clang 17 · Makefile · VS Code</a:t>
            </a:r>
            <a:endParaRPr lang="zh-CN" sz="165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算法选择与库使用边界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算法选择与库使用边界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4</a:t>
            </a:r>
            <a:endParaRPr lang="zh-CN" sz="1275"/>
          </a:p>
        </p:txBody>
      </p:sp>
      <p:graphicFrame>
        <p:nvGraphicFramePr>
          <p:cNvPr id="4" name="Editable table 4"/>
          <p:cNvGraphicFramePr/>
          <p:nvPr/>
        </p:nvGraphicFramePr>
        <p:xfrm>
          <a:off x="647700" y="1466850"/>
          <a:ext cx="10858500" cy="3390900"/>
        </p:xfrm>
        <a:graphic>
          <a:graphicData uri="http://schemas.openxmlformats.org/drawingml/2006/table">
            <a:tbl>
              <a:tblPr firstRow="1" bandRow="1"/>
              <a:tblGrid>
                <a:gridCol w="1952625"/>
                <a:gridCol w="5381625"/>
                <a:gridCol w="3524250"/>
              </a:tblGrid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功能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实现方式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依赖申报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打包／解包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自定义 SQBK / SQTREE 格式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本项目实现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压缩／解压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分块 Huffman，收益不足存原始块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本项目实现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密码保护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AES-256-CBC + PBKDF2 + HMAC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CommonCrypto / Security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图形界面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macOS 原生控件与后台任务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449"/>
                        </a:lnSpc>
                        <a:buNone/>
                      </a:pPr>
                      <a:r>
                        <a:rPr lang="zh-CN" sz="1725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Cocoa / AppKit</a:t>
                      </a:r>
                      <a:endParaRPr lang="zh-CN" sz="1725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647700" y="5429250"/>
            <a:ext cx="1081087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56"/>
              </a:lnSpc>
              <a:buNone/>
            </a:pPr>
            <a:r>
              <a:rPr lang="zh-CN" sz="1800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先压缩后加密；加密备份先认证、后解密。系统库使用如实写入报告。</a:t>
            </a:r>
            <a:endParaRPr lang="zh-CN" sz="18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测试结果与验证范围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测试结果与验证范围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5</a:t>
            </a:r>
            <a:endParaRPr lang="zh-CN" sz="1275"/>
          </a:p>
        </p:txBody>
      </p:sp>
      <p:sp>
        <p:nvSpPr>
          <p:cNvPr id="4" name="Text 4"/>
          <p:cNvSpPr txBox="1"/>
          <p:nvPr/>
        </p:nvSpPr>
        <p:spPr>
          <a:xfrm>
            <a:off x="619125" y="142875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59"/>
              </a:lnSpc>
              <a:buNone/>
            </a:pPr>
            <a:r>
              <a:rPr lang="zh-CN" sz="6450" b="1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72 / 72</a:t>
            </a:r>
            <a:endParaRPr lang="zh-CN" sz="6450"/>
          </a:p>
        </p:txBody>
      </p:sp>
      <p:sp>
        <p:nvSpPr>
          <p:cNvPr id="5" name="Text 5"/>
          <p:cNvSpPr txBox="1"/>
          <p:nvPr/>
        </p:nvSpPr>
        <p:spPr>
          <a:xfrm>
            <a:off x="685800" y="2628900"/>
            <a:ext cx="42862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95"/>
              </a:lnSpc>
              <a:buNone/>
            </a:pPr>
            <a:r>
              <a:rPr lang="zh-CN" sz="22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自动测试用例通过</a:t>
            </a:r>
            <a:endParaRPr lang="zh-CN" sz="2250"/>
          </a:p>
        </p:txBody>
      </p:sp>
      <p:sp>
        <p:nvSpPr>
          <p:cNvPr id="6" name="Text 6"/>
          <p:cNvSpPr txBox="1"/>
          <p:nvPr/>
        </p:nvSpPr>
        <p:spPr>
          <a:xfrm>
            <a:off x="685800" y="3314700"/>
            <a:ext cx="42862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3"/>
              </a:lnSpc>
              <a:buNone/>
            </a:pPr>
            <a:r>
              <a:rPr lang="zh-CN" sz="1650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git 本地版本管理</a:t>
            </a:r>
            <a:endParaRPr lang="zh-CN" sz="1650"/>
          </a:p>
          <a:p>
            <a:pPr algn="l">
              <a:lnSpc>
                <a:spcPts val="2343"/>
              </a:lnSpc>
              <a:buNone/>
            </a:pPr>
            <a:r>
              <a:rPr lang="zh-CN" sz="1650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clang-format + cpplint 代码规范</a:t>
            </a:r>
            <a:endParaRPr lang="zh-CN" sz="1650"/>
          </a:p>
        </p:txBody>
      </p:sp>
      <p:graphicFrame>
        <p:nvGraphicFramePr>
          <p:cNvPr id="7" name="Editable table 7"/>
          <p:cNvGraphicFramePr/>
          <p:nvPr/>
        </p:nvGraphicFramePr>
        <p:xfrm>
          <a:off x="5334000" y="1495425"/>
          <a:ext cx="6191250" cy="2552700"/>
        </p:xfrm>
        <a:graphic>
          <a:graphicData uri="http://schemas.openxmlformats.org/drawingml/2006/table">
            <a:tbl>
              <a:tblPr firstRow="1" bandRow="1"/>
              <a:tblGrid>
                <a:gridCol w="4476750"/>
                <a:gridCol w="1714500"/>
              </a:tblGrid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测试层次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数量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GoogleTest 单元测试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33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CLI 集成测试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21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畸形归档与并发测试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18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66750" y="4219575"/>
            <a:ext cx="10858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另有 12 项 GUI 内部动作断言、Sanitizer 检查</a:t>
            </a:r>
            <a:endParaRPr lang="zh-CN" sz="1950"/>
          </a:p>
          <a:p>
            <a:pPr algn="l">
              <a:lnSpc>
                <a:spcPts val="2769"/>
              </a:lnSpc>
              <a:buNone/>
            </a:pPr>
            <a:r>
              <a:rPr lang="zh-CN" sz="1950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60 秒变异测试约 15.8 万次输入；十分钟任务完成 275 份快照</a:t>
            </a:r>
            <a:endParaRPr lang="zh-CN" sz="1950"/>
          </a:p>
        </p:txBody>
      </p:sp>
      <p:sp>
        <p:nvSpPr>
          <p:cNvPr id="9" name="Text 9"/>
          <p:cNvSpPr txBox="1"/>
          <p:nvPr/>
        </p:nvSpPr>
        <p:spPr>
          <a:xfrm>
            <a:off x="666750" y="5619750"/>
            <a:ext cx="10858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buNone/>
            </a:pPr>
            <a:r>
              <a:rPr lang="zh-CN" sz="172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真实点击、文件选择器、跨机器兼容性仍待人工验收。</a:t>
            </a:r>
            <a:endParaRPr lang="zh-CN" sz="1725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三人各负责实现、测试与文档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三人各负责实现、测试与文档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6</a:t>
            </a:r>
            <a:endParaRPr lang="zh-CN" sz="1275"/>
          </a:p>
        </p:txBody>
      </p:sp>
      <p:graphicFrame>
        <p:nvGraphicFramePr>
          <p:cNvPr id="4" name="Editable table 4"/>
          <p:cNvGraphicFramePr/>
          <p:nvPr/>
        </p:nvGraphicFramePr>
        <p:xfrm>
          <a:off x="666750" y="1524000"/>
          <a:ext cx="10858500" cy="3324225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5381625"/>
                <a:gridCol w="4238625"/>
              </a:tblGrid>
              <a:tr h="523875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成员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技术主责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配套工作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222D32"/>
                    </a:solidFill>
                  </a:tcPr>
                </a:tc>
              </a:tr>
              <a:tr h="93345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A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扫描筛选、安全恢复、CLI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需求与用例、模块测试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B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归档格式、Huffman、密码封装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设计与类图、算法测试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EDEEE8"/>
                    </a:solidFill>
                  </a:tcPr>
                </a:tc>
              </a:tr>
              <a:tr h="933450"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C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GUI、自动任务、集成发布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556"/>
                        </a:lnSpc>
                        <a:buNone/>
                      </a:pPr>
                      <a:r>
                        <a:rPr lang="zh-CN" sz="1800" b="0">
                          <a:solidFill>
                            <a:srgbClr val="222D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 xml:space="preserve">测试汇总、动态建模</a:t>
                      </a:r>
                      <a:endParaRPr lang="zh-CN" sz="1800"/>
                    </a:p>
                  </a:txBody>
                  <a:tcPr marL="114300" marR="114300" marT="76200" marB="76200" anchor="ctr">
                    <a:lnB w="6350">
                      <a:solidFill>
                        <a:srgbClr val="D6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666750" y="4972050"/>
            <a:ext cx="10858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37"/>
              </a:lnSpc>
              <a:buNone/>
            </a:pPr>
            <a:r>
              <a:rPr lang="zh-CN" sz="15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推进计划：接手复现 → 模块复核 → 手工建模、人工验收与演示</a:t>
            </a:r>
            <a:endParaRPr lang="zh-CN" sz="1575"/>
          </a:p>
        </p:txBody>
      </p:sp>
      <p:sp>
        <p:nvSpPr>
          <p:cNvPr id="6" name="Text 6"/>
          <p:cNvSpPr txBox="1"/>
          <p:nvPr/>
        </p:nvSpPr>
        <p:spPr>
          <a:xfrm>
            <a:off x="666750" y="5391150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56"/>
              </a:lnSpc>
              <a:buNone/>
            </a:pPr>
            <a:r>
              <a:rPr lang="zh-CN" sz="1800" b="0">
                <a:solidFill>
                  <a:srgbClr val="B8512F"/>
                </a:solidFill>
                <a:latin typeface="Arial Unicode MS"/>
                <a:ea typeface="Arial Unicode MS"/>
                <a:cs typeface="Arial Unicode MS"/>
              </a:rPr>
              <a:t xml:space="preserve">每人 30 个计划工作量点：代码 14 + 测试 5 + 文档建模 5 + 复核演示 6</a:t>
            </a:r>
            <a:endParaRPr lang="zh-CN" sz="1800"/>
          </a:p>
        </p:txBody>
      </p:sp>
      <p:sp>
        <p:nvSpPr>
          <p:cNvPr id="7" name="Text 7"/>
          <p:cNvSpPr txBox="1"/>
          <p:nvPr/>
        </p:nvSpPr>
        <p:spPr>
          <a:xfrm>
            <a:off x="666750" y="60007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23"/>
              </a:lnSpc>
              <a:buNone/>
            </a:pPr>
            <a:r>
              <a:rPr lang="zh-CN" sz="142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角色代号请替换姓名学号；实际完成情况另行登记。</a:t>
            </a:r>
            <a:endParaRPr lang="zh-CN" sz="1425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现场演示以安全恢复为主线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现场演示以安全恢复为主线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7</a:t>
            </a:r>
            <a:endParaRPr lang="zh-CN" sz="1275"/>
          </a:p>
        </p:txBody>
      </p:sp>
      <p:sp>
        <p:nvSpPr>
          <p:cNvPr id="4" name="Text 4"/>
          <p:cNvSpPr txBox="1"/>
          <p:nvPr/>
        </p:nvSpPr>
        <p:spPr>
          <a:xfrm>
            <a:off x="619125" y="1600200"/>
            <a:ext cx="5476875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1  选择演示源目录，创建新备份</a:t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/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2  验证内容并恢复到新目录</a:t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/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3  展示错误密码与不覆盖保护</a:t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/>
            </a:r>
            <a:endParaRPr lang="zh-CN" sz="2025"/>
          </a:p>
          <a:p>
            <a:pPr algn="l">
              <a:lnSpc>
                <a:spcPts val="2875"/>
              </a:lnSpc>
              <a:buNone/>
            </a:pPr>
            <a:r>
              <a:rPr lang="zh-CN" sz="2025" b="0">
                <a:solidFill>
                  <a:srgbClr val="222D32"/>
                </a:solidFill>
                <a:latin typeface="Arial Unicode MS"/>
                <a:ea typeface="Arial Unicode MS"/>
                <a:cs typeface="Arial Unicode MS"/>
              </a:rPr>
              <a:t xml:space="preserve">4  启动自动任务，检查保留份数</a:t>
            </a:r>
            <a:endParaRPr lang="zh-CN" sz="2025"/>
          </a:p>
        </p:txBody>
      </p:sp>
      <p:pic>
        <p:nvPicPr>
          <p:cNvPr id="5" name="Product preview 5" descr="松鼠备份应用离屏预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590675"/>
            <a:ext cx="5334000" cy="3901726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6381750" y="5686425"/>
            <a:ext cx="5238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17"/>
              </a:lnSpc>
              <a:buNone/>
            </a:pPr>
            <a:r>
              <a:rPr lang="zh-CN" sz="1350" b="0">
                <a:solidFill>
                  <a:srgbClr val="687375"/>
                </a:solidFill>
                <a:latin typeface="Arial Unicode MS"/>
                <a:ea typeface="Arial Unicode MS"/>
                <a:cs typeface="Arial Unicode MS"/>
              </a:rPr>
              <a:t xml:space="preserve">GUI 离屏预览；真实文件选择器需现场复核</a:t>
            </a:r>
            <a:endParaRPr lang="zh-CN" sz="135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初版边界与下一轮验收">
    <p:bg>
      <p:bgPr>
        <a:solidFill>
          <a:srgbClr val="222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6"/>
              </a:lnSpc>
              <a:buNone/>
            </a:pPr>
            <a:r>
              <a:rPr lang="zh-CN"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初版边界与下一轮验收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11191875" y="63341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11"/>
              </a:lnSpc>
              <a:buNone/>
            </a:pPr>
            <a:r>
              <a:rPr lang="zh-CN" sz="1275" b="0">
                <a:solidFill>
                  <a:srgbClr val="A9B1B1"/>
                </a:solidFill>
                <a:latin typeface="Arial Unicode MS"/>
                <a:ea typeface="Arial Unicode MS"/>
                <a:cs typeface="Arial Unicode MS"/>
              </a:rPr>
              <a:t xml:space="preserve">8</a:t>
            </a:r>
            <a:endParaRPr lang="zh-CN" sz="1275"/>
          </a:p>
        </p:txBody>
      </p:sp>
      <p:sp>
        <p:nvSpPr>
          <p:cNvPr id="4" name="Text 4"/>
          <p:cNvSpPr txBox="1"/>
          <p:nvPr/>
        </p:nvSpPr>
        <p:spPr>
          <a:xfrm>
            <a:off x="619125" y="1524000"/>
            <a:ext cx="476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21"/>
              </a:lnSpc>
              <a:buNone/>
            </a:pPr>
            <a:r>
              <a:rPr lang="zh-CN" sz="2550" b="1">
                <a:solidFill>
                  <a:srgbClr val="E5AE94"/>
                </a:solidFill>
                <a:latin typeface="Arial Unicode MS"/>
                <a:ea typeface="Arial Unicode MS"/>
                <a:cs typeface="Arial Unicode MS"/>
              </a:rPr>
              <a:t xml:space="preserve">接下来</a:t>
            </a:r>
            <a:endParaRPr lang="zh-CN" sz="2550"/>
          </a:p>
        </p:txBody>
      </p:sp>
      <p:sp>
        <p:nvSpPr>
          <p:cNvPr id="5" name="Text 5"/>
          <p:cNvSpPr txBox="1"/>
          <p:nvPr/>
        </p:nvSpPr>
        <p:spPr>
          <a:xfrm>
            <a:off x="619125" y="2286000"/>
            <a:ext cx="106680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1"/>
              </a:lnSpc>
              <a:buNone/>
            </a:pPr>
            <a:r>
              <a:rPr lang="zh-C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完成真实 GUI 操作与手工 UML</a:t>
            </a:r>
            <a:endParaRPr lang="zh-CN" sz="2325"/>
          </a:p>
          <a:p>
            <a:pPr algn="l">
              <a:lnSpc>
                <a:spcPts val="3301"/>
              </a:lnSpc>
              <a:buNone/>
            </a:pPr>
            <a:r>
              <a:rPr lang="zh-C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填写姓名、学号和真实贡献</a:t>
            </a:r>
            <a:endParaRPr lang="zh-CN" sz="2325"/>
          </a:p>
          <a:p>
            <a:pPr algn="l">
              <a:lnSpc>
                <a:spcPts val="3301"/>
              </a:lnSpc>
              <a:buNone/>
            </a:pPr>
            <a:r>
              <a:rPr lang="zh-C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 xml:space="preserve">共同排练并录制课程演示视频</a:t>
            </a:r>
            <a:endParaRPr lang="zh-CN" sz="2325"/>
          </a:p>
        </p:txBody>
      </p:sp>
      <p:sp>
        <p:nvSpPr>
          <p:cNvPr id="6" name="Text 6"/>
          <p:cNvSpPr txBox="1"/>
          <p:nvPr/>
        </p:nvSpPr>
        <p:spPr>
          <a:xfrm>
            <a:off x="619125" y="4781550"/>
            <a:ext cx="47625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75"/>
              </a:lnSpc>
              <a:buNone/>
            </a:pPr>
            <a:r>
              <a:rPr lang="zh-CN" sz="2025" b="1">
                <a:solidFill>
                  <a:srgbClr val="E5AE94"/>
                </a:solidFill>
                <a:latin typeface="Arial Unicode MS"/>
                <a:ea typeface="Arial Unicode MS"/>
                <a:cs typeface="Arial Unicode MS"/>
              </a:rPr>
              <a:t xml:space="preserve">当前限制</a:t>
            </a:r>
            <a:endParaRPr lang="zh-CN" sz="2025"/>
          </a:p>
        </p:txBody>
      </p:sp>
      <p:sp>
        <p:nvSpPr>
          <p:cNvPr id="7" name="Text 7"/>
          <p:cNvSpPr txBox="1"/>
          <p:nvPr/>
        </p:nvSpPr>
        <p:spPr>
          <a:xfrm>
            <a:off x="619125" y="5391150"/>
            <a:ext cx="10858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63"/>
              </a:lnSpc>
              <a:buNone/>
            </a:pPr>
            <a:r>
              <a:rPr lang="zh-CN" sz="1875" b="0">
                <a:solidFill>
                  <a:srgbClr val="D2D9D6"/>
                </a:solidFill>
                <a:latin typeface="Arial Unicode MS"/>
                <a:ea typeface="Arial Unicode MS"/>
                <a:cs typeface="Arial Unicode MS"/>
              </a:rPr>
              <a:t xml:space="preserve">任务需保持进程运行；暂不支持网盘、增量、完整 ACL 与后台常驻。</a:t>
            </a:r>
            <a:endParaRPr lang="zh-CN" sz="18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quirrel">
  <a:themeElements>
    <a:clrScheme name="Squirrel">
      <a:dk1>
        <a:srgbClr val="222D32"/>
      </a:dk1>
      <a:lt1>
        <a:srgbClr val="FFFFFF"/>
      </a:lt1>
      <a:dk2>
        <a:srgbClr val="687375"/>
      </a:dk2>
      <a:lt2>
        <a:srgbClr val="F7F6F2"/>
      </a:lt2>
      <a:accent1>
        <a:srgbClr val="B8512F"/>
      </a:accent1>
      <a:accent2>
        <a:srgbClr val="547A6D"/>
      </a:accent2>
      <a:accent3>
        <a:srgbClr val="A88A51"/>
      </a:accent3>
      <a:accent4>
        <a:srgbClr val="4E6C88"/>
      </a:accent4>
      <a:accent5>
        <a:srgbClr val="92718E"/>
      </a:accent5>
      <a:accent6>
        <a:srgbClr val="7A8C55"/>
      </a:accent6>
      <a:hlink>
        <a:srgbClr val="B8512F"/>
      </a:hlink>
      <a:folHlink>
        <a:srgbClr val="804026"/>
      </a:folHlink>
    </a:clrScheme>
    <a:fontScheme name="Squirrel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Squirrel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 w="12700">
          <a:solidFill>
            <a:srgbClr val="222D32"/>
          </a:solidFill>
          <a:prstDash val="solid"/>
        </a:ln>
        <a:ln w="12700">
          <a:solidFill>
            <a:srgbClr val="222D32"/>
          </a:solidFill>
          <a:prstDash val="solid"/>
        </a:ln>
        <a:ln w="12700">
          <a:solidFill>
            <a:srgbClr val="222D32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7F6F2"/>
        </a:solidFill>
        <a:solidFill>
          <a:srgbClr val="F7F6F2"/>
        </a:solidFill>
        <a:solidFill>
          <a:srgbClr val="F7F6F2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Squirrel Backup Presentation Builder</Application>
  <PresentationFormat>On-screen Show (16:9)</PresentationFormat>
  <Slides>8</Slides>
  <Notes>8</Notes>
</Properties>
</file>

<file path=docProps/core.xml><?xml version="1.0" encoding="utf-8"?>
<cp:coreProperties xmlns:cp="http://schemas.openxmlformats.org/package/2006/metadata/core-properties" xmlns:dc="http://purl.org/dc/elements/1.1/">
  <dc:title>松鼠备份课程演示</dc:title>
  <dc:creator>Squirrel Backup course project</dc:creator>
  <dc:description>八页可编辑演示，含讲者备注和建议三人分工</dc:description>
</cp:coreProperties>
</file>