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024f53c5e34ea4" /><Relationship Type="http://schemas.openxmlformats.org/officeDocument/2006/relationships/extended-properties" Target="/docProps/app.xml" Id="R5279e2179bc34533" /><Relationship Type="http://schemas.openxmlformats.org/officeDocument/2006/relationships/officeDocument" Target="/ppt/presentation.xml" Id="Rde43a415262549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b51331471248b8"/>
  </p:sldMasterIdLst>
  <p:notesMasterIdLst>
    <p:notesMasterId xmlns:r="http://schemas.openxmlformats.org/officeDocument/2006/relationships" r:id="Rc038739291424762"/>
  </p:notesMasterIdLst>
  <p:sldIdLst>
    <p:sldId xmlns:r="http://schemas.openxmlformats.org/officeDocument/2006/relationships" id="256" r:id="R55958afa67774432"/>
    <p:sldId xmlns:r="http://schemas.openxmlformats.org/officeDocument/2006/relationships" id="257" r:id="R2e9ff1941c144ec9"/>
    <p:sldId xmlns:r="http://schemas.openxmlformats.org/officeDocument/2006/relationships" id="258" r:id="R043cfe51a4744515"/>
    <p:sldId xmlns:r="http://schemas.openxmlformats.org/officeDocument/2006/relationships" id="259" r:id="Rd616ce36db8d4da1"/>
    <p:sldId xmlns:r="http://schemas.openxmlformats.org/officeDocument/2006/relationships" id="260" r:id="R9137370b68164737"/>
    <p:sldId xmlns:r="http://schemas.openxmlformats.org/officeDocument/2006/relationships" id="261" r:id="R31f1e862c83e4945"/>
    <p:sldId xmlns:r="http://schemas.openxmlformats.org/officeDocument/2006/relationships" id="262" r:id="R637ba31920a2495b"/>
    <p:sldId xmlns:r="http://schemas.openxmlformats.org/officeDocument/2006/relationships" id="263" r:id="Raf3993ad66e74275"/>
    <p:sldId xmlns:r="http://schemas.openxmlformats.org/officeDocument/2006/relationships" id="264" r:id="Rce9f79b950e94f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cc9931ae274fef" /><Relationship Type="http://schemas.openxmlformats.org/officeDocument/2006/relationships/slideMaster" Target="/ppt/slideMasters/slideMaster1.xml" Id="Re5b51331471248b8" /><Relationship Type="http://schemas.openxmlformats.org/officeDocument/2006/relationships/notesMaster" Target="/ppt/notesMasters/notesMaster1.xml" Id="Rc038739291424762" /><Relationship Type="http://schemas.openxmlformats.org/officeDocument/2006/relationships/presProps" Target="/ppt/presProps.xml" Id="Re6a646d09c664592" /><Relationship Type="http://schemas.openxmlformats.org/officeDocument/2006/relationships/tableStyles" Target="/ppt/tableStyles.xml" Id="Rf39166e5695b455b" /><Relationship Type="http://schemas.openxmlformats.org/officeDocument/2006/relationships/slide" Target="/ppt/slides/slide1.xml" Id="R55958afa67774432" /><Relationship Type="http://schemas.openxmlformats.org/officeDocument/2006/relationships/slide" Target="/ppt/slides/slide2.xml" Id="R2e9ff1941c144ec9" /><Relationship Type="http://schemas.openxmlformats.org/officeDocument/2006/relationships/slide" Target="/ppt/slides/slide3.xml" Id="R043cfe51a4744515" /><Relationship Type="http://schemas.openxmlformats.org/officeDocument/2006/relationships/slide" Target="/ppt/slides/slide4.xml" Id="Rd616ce36db8d4da1" /><Relationship Type="http://schemas.openxmlformats.org/officeDocument/2006/relationships/slide" Target="/ppt/slides/slide5.xml" Id="R9137370b68164737" /><Relationship Type="http://schemas.openxmlformats.org/officeDocument/2006/relationships/slide" Target="/ppt/slides/slide6.xml" Id="R31f1e862c83e4945" /><Relationship Type="http://schemas.openxmlformats.org/officeDocument/2006/relationships/slide" Target="/ppt/slides/slide7.xml" Id="R637ba31920a2495b" /><Relationship Type="http://schemas.openxmlformats.org/officeDocument/2006/relationships/slide" Target="/ppt/slides/slide8.xml" Id="Raf3993ad66e74275" /><Relationship Type="http://schemas.openxmlformats.org/officeDocument/2006/relationships/slide" Target="/ppt/slides/slide9.xml" Id="Rce9f79b950e94f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e186add0824f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1a548a78ea4bb3" /><Relationship Type="http://schemas.openxmlformats.org/officeDocument/2006/relationships/notesMaster" Target="/ppt/notesMasters/notesMaster1.xml" Id="R09875551d5ca48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4985f54ba44076" /><Relationship Type="http://schemas.openxmlformats.org/officeDocument/2006/relationships/notesMaster" Target="/ppt/notesMasters/notesMaster1.xml" Id="Ra53bad250d4b42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bf5242f93b4137" /><Relationship Type="http://schemas.openxmlformats.org/officeDocument/2006/relationships/notesMaster" Target="/ppt/notesMasters/notesMaster1.xml" Id="R52450a1e772048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4151e0f41c4ba3" /><Relationship Type="http://schemas.openxmlformats.org/officeDocument/2006/relationships/notesMaster" Target="/ppt/notesMasters/notesMaster1.xml" Id="Ra08db41f3ce444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19212494854e67" /><Relationship Type="http://schemas.openxmlformats.org/officeDocument/2006/relationships/notesMaster" Target="/ppt/notesMasters/notesMaster1.xml" Id="Ree5f59cae41d41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ebc49f27da4681" /><Relationship Type="http://schemas.openxmlformats.org/officeDocument/2006/relationships/notesMaster" Target="/ppt/notesMasters/notesMaster1.xml" Id="R1113863a8d514a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611df35f8a4345" /><Relationship Type="http://schemas.openxmlformats.org/officeDocument/2006/relationships/notesMaster" Target="/ppt/notesMasters/notesMaster1.xml" Id="Ra97159f4c08049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55686357824c2e" /><Relationship Type="http://schemas.openxmlformats.org/officeDocument/2006/relationships/notesMaster" Target="/ppt/notesMasters/notesMaster1.xml" Id="R5947a32b755041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de51e702ce4186" /><Relationship Type="http://schemas.openxmlformats.org/officeDocument/2006/relationships/notesMaster" Target="/ppt/notesMasters/notesMaster1.xml" Id="Rab29fdd1177349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我们第3组的项目是松鼠备份，用于本机目录的备份、验证和恢复。当前版本为0.2.0，使用C++核心与macOS原生界面。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备查说明（不朗读）：10秒。杨梦宇：我们第3组的项目是松鼠备份，目标是把本机目录保存成可验证、可安全恢复的归档。当前演示版本为0.2.0，使用C++核心与macOS原生界面。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本流程是把目录保存成单个归档，再恢复到新目录。程序保留软硬链接、FIFO和基础元数据，支持六类组合筛选、压缩及密码保护。自动任务能定时创建完整快照，也能在目录变化稳定后备份。已有目标不会被覆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20秒。杨梦宇：从一个目录生成单个备份文件，再恢复到新目录。可选六类筛选、压缩和密码保护。自动任务定时创建完整快照，也能轮询目录变化。已有备份与恢复目录不会被覆盖。截图来源：docs/screenshots/01-backup-completed.png，后台调用真实AppKit操作处理流程，未操作系统文件选择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杨梦宇，约25秒。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界面和命令行共用BackupService，调度器也复用这个服务。扫描、归档、压缩和密码封装分别由对应模块完成。Operation传递停止标志和进度，界面只在主线程更新。这样修改恢复逻辑时，两个入口的行为能够保持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25秒。杨梦宇：GUI和CLI都调用BackupService，调度器也复用它。扫描、归档格式、压缩、密码封装分开承担职责。Operation传入停止标志和进度回调，工作线程不直接修改AppKit控件。对应源码：include/squirrel/backup.h、src/service.cpp、src/scheduler.cpp、src/gui.mm；完整UML见docs/uml/SquirrelBackup.mdj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归档采用自定义格式，逐项记录目录树。Huffman按一兆字节分块，压缩没有收益时保存原始块。加密部分调用系统密码库，项目负责封装、参数和边界检查。处理顺序是先压缩再加密，恢复时先认证再解密。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20秒。郭畅：SQBK是外层封装，SQTREE描述目录树。Huffman按1MiB分块处理，压缩没有收益就保存原始块，单符号和空块单独处理。密码保护使用系统库完成PBKDF2、AES和HMAC，项目实现封装与边界检查，不把系统密码算法说成自研。源码：src/archive.cpp、src/huffman.cpp、src/crypto.cpp；依赖声明：THIRD_PART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郭畅，约25秒。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先验证备份，再写私有暂存目录，最后恢复元数据并发布新目录。错误密码、非法路径或取消都不能发布未完成结果。新版增加了分阶段取消和发布前源目录复查，能拒绝已检测到的变化，但它不能替代文件系统原子快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25秒。郭畅：恢复先完成验证，再写私有暂存目录，恢复元数据后以不覆盖方式发布。错误密码、畸形路径和取消都应清理暂存，不留下貌似完成的目录。0.2.0增加阶段取消和发布前源目录复查；读取后的变化仍可能发生，所以它不等于文件系统原子快照。源码：src/service.cpp、src/archive.cpp、src/scanner.cpp；回归：tests/core_test.cp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李想，约25秒。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97项命名自动测试通过，包含单元、命令行、异常输入和工作流回归；内存检查复测也通过。53项界面内部断言单独统计。新旧版本明文和加密的双向恢复已通过。20小时持续测试仍在运行，系统文件选择器还需人工验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25秒。李想：97是命名自动测试用例数量，四层相加为97，Sanitizer重复执行不额外计数。GUI53项是内部断言，单独报告。新旧版本明文与加密的双向恢复共4种组合通过。20小时定时和watch联合测试尚在运行，最终数值以报告刷新为准；系统选择器仍需人工检查。来源：test-results/summary.json、gui-selftest.json、compatibility-020.json、sanitize-020.lo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分工按文件恢复、格式算法、界面任务划分。每人承担30个相对工作量点，都包括代码、测试、文档和演示，再轮流交叉复核。这是职责安排，实际贡献由三人确认，并用后续提交和测试记录补充。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20秒。李想：按文件与恢复、格式与算法、界面与任务分配，每人30个相对工作量点，均承担代码、测试、文档与演示。这里是接手与复核安排，不把自动生成或自动执行内容写成个人已完成工作。实际贡献以三人确认和后续提交记录为准。来源：docs/07_三人分工与协作方案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李想，约15秒。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答辩前依次完成接手复现、界面验收、文档复核和排练。按第9讲要求，11月18日上午答辩，当晚提交材料；个人学习证书由每位成员自行完成。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15秒。李想：以10月29日为起点安排接手复现、真实界面验收、材料复核和排练，11月18日答辩。甘特图是后续计划，尚未发生的日期不写成完成记录。在线Git仓库需要成员账号完成发布，个人证书各自完成。来源：课程9.pdf第38至40页，docs/planning/后续计划.csv及docs/10_学习证书办理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现场使用独立演示数据，依次展示加密备份、验证恢复、错误密码、任务保留与停止，并核对恢复结果。软件目前只提供本地完整备份，不支持网络、增量和后台常驻。下面进入实际操作。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查说明（不朗读）：20秒。杨梦宇：现场从准备好的独立数据目录开始，展示备份、验证、恢复和原文件哈希比对，再展示错误密码与任务保留、停止。不会使用个人真实文件。PPT讲解控制3分钟，现场操作7分钟，提交视频不超过2分钟。程序尚不支持网络、增量、系统守护与重启续跑。截图来源：docs/screenshots/03-restored.png，真实应用离屏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7a09524b454a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4421799929419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b6c243146747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f50d8a2d0d4ad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337a673174a4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0d30f34d14e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2D7EE6-D86D-407E-8568-BE8C83410B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02444F5-BD1F-491F-9A3F-699DA3B069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6DF96F8-7FA9-4E78-8F31-3C9076DF18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5B08ED-42E9-4D11-AC94-B59BD37FA1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4A8EAD5-18A2-437F-B19D-043AACDC77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69699DB-7E03-4434-B29E-53BD67758E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370EDC2-33F4-44FE-9BB4-13AA983E1C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7ADBEAB-418B-44CF-928E-906E899BEE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FA3E4E-4CB9-4D86-B16C-A977DE7D75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FF90E49-CBA9-4B1E-AD17-167AE1BCDB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f5acae53be40d4" /><Relationship Type="http://schemas.openxmlformats.org/officeDocument/2006/relationships/slideLayout" Target="/ppt/slideLayouts/slideLayout1.xml" Id="Raa08240736f147f3" /><Relationship Type="http://schemas.openxmlformats.org/officeDocument/2006/relationships/slideLayout" Target="/ppt/slideLayouts/slideLayout2.xml" Id="Rc7c0dda1d1324e2d" /><Relationship Type="http://schemas.openxmlformats.org/officeDocument/2006/relationships/slideLayout" Target="/ppt/slideLayouts/slideLayout3.xml" Id="Rd6e0ac45fdd1427f" /><Relationship Type="http://schemas.openxmlformats.org/officeDocument/2006/relationships/slideLayout" Target="/ppt/slideLayouts/slideLayout4.xml" Id="Rabbf167f92894e41" /><Relationship Type="http://schemas.openxmlformats.org/officeDocument/2006/relationships/slideLayout" Target="/ppt/slideLayouts/slideLayout5.xml" Id="Ra0976bec6fa148e8" /><Relationship Type="http://schemas.openxmlformats.org/officeDocument/2006/relationships/slideLayout" Target="/ppt/slideLayouts/slideLayout6.xml" Id="R2c214f346bad4e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08240736f147f3"/>
    <p:sldLayoutId xmlns:r="http://schemas.openxmlformats.org/officeDocument/2006/relationships" id="2147483650" r:id="Rc7c0dda1d1324e2d"/>
    <p:sldLayoutId xmlns:r="http://schemas.openxmlformats.org/officeDocument/2006/relationships" id="2147483651" r:id="Rd6e0ac45fdd1427f"/>
    <p:sldLayoutId xmlns:r="http://schemas.openxmlformats.org/officeDocument/2006/relationships" id="2147483652" r:id="Rabbf167f92894e41"/>
    <p:sldLayoutId xmlns:r="http://schemas.openxmlformats.org/officeDocument/2006/relationships" id="2147483653" r:id="Ra0976bec6fa148e8"/>
    <p:sldLayoutId xmlns:r="http://schemas.openxmlformats.org/officeDocument/2006/relationships" id="2147483654" r:id="R2c214f346bad4e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7f8d39bd45445b" /><Relationship Type="http://schemas.openxmlformats.org/officeDocument/2006/relationships/notesSlide" Target="/ppt/notesSlides/notesSlide1.xml" Id="R040a8c508ccd4f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61e2d4c1ee4cb7" /><Relationship Type="http://schemas.openxmlformats.org/officeDocument/2006/relationships/image" Target="/ppt/media/image.png" Id="R2fc92a60f7154626" /><Relationship Type="http://schemas.openxmlformats.org/officeDocument/2006/relationships/notesSlide" Target="/ppt/notesSlides/notesSlide2.xml" Id="Ra61d83ecd9864b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3b0d8758bc4e1c" /><Relationship Type="http://schemas.openxmlformats.org/officeDocument/2006/relationships/notesSlide" Target="/ppt/notesSlides/notesSlide3.xml" Id="Re59af64fed4449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1ed2fc75e84542" /><Relationship Type="http://schemas.openxmlformats.org/officeDocument/2006/relationships/notesSlide" Target="/ppt/notesSlides/notesSlide4.xml" Id="R2ceefda95bb842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6630ab3cbb42fd" /><Relationship Type="http://schemas.openxmlformats.org/officeDocument/2006/relationships/notesSlide" Target="/ppt/notesSlides/notesSlide5.xml" Id="R9b958bd96e2341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81bd707eed48a2" /><Relationship Type="http://schemas.openxmlformats.org/officeDocument/2006/relationships/notesSlide" Target="/ppt/notesSlides/notesSlide6.xml" Id="R0667821c072c46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ca5f7923e9455b" /><Relationship Type="http://schemas.openxmlformats.org/officeDocument/2006/relationships/notesSlide" Target="/ppt/notesSlides/notesSlide7.xml" Id="Ra2c115462c304c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a1a5b9c47c47cf" /><Relationship Type="http://schemas.openxmlformats.org/officeDocument/2006/relationships/notesSlide" Target="/ppt/notesSlides/notesSlide8.xml" Id="Rfe861f39f76f48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767a3d4d154360" /><Relationship Type="http://schemas.openxmlformats.org/officeDocument/2006/relationships/image" Target="/ppt/media/image2.png" Id="R0d64a24a3dc24ab4" /><Relationship Type="http://schemas.openxmlformats.org/officeDocument/2006/relationships/notesSlide" Target="/ppt/notesSlides/notesSlide9.xml" Id="R73c7abdaab1d4f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D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7BB86-D226-4E71-BE7B-3F59B4B3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58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松鼠备份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6F164-C9C0-4EB0-B36E-5047B706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670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defRPr>
            </a:pPr>
            <a:r>
              <a:rPr sz="2550" b="0">
                <a:solidFill>
                  <a:srgbClr val="B7C9C5"/>
                </a:solidFill>
                <a:latin typeface="PingFang SC"/>
                <a:ea typeface="PingFang SC"/>
                <a:cs typeface="PingFang SC"/>
              </a:rPr>
              <a:t>Squirrel Backup  0.2.0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E8FA27-3863-466E-9532-5A84645A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7433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E4B29B"/>
                </a:solidFill>
                <a:latin typeface="PingFang SC"/>
                <a:ea typeface="PingFang SC"/>
                <a:cs typeface="PingFang SC"/>
              </a:rPr>
              <a:t>软件开发综合实验 · 第3组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C78D9-DC80-4B5B-891F-2A007B7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01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杨梦宇  2023150901002  组长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郭畅     2023040904017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李想     2023150901012</a:t>
            </a:r>
          </a:p>
        </p:txBody>
      </p:sp>
    </p:spTree>
    <p:extLst>
      <p:ext uri="{BB962C8B-B14F-4D97-AF65-F5344CB8AC3E}">
        <p14:creationId xmlns:p14="http://schemas.microsoft.com/office/powerpoint/2010/main" val="13767268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2D138-90FC-42C5-AC67-32570381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本地目录备份与恢复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466D1B-AA20-458D-8726-0A4E35EB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B45C1-58A4-4490-9C46-350C8298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AC4B30"/>
                </a:solidFill>
                <a:latin typeface="PingFang SC"/>
                <a:ea typeface="PingFang SC"/>
                <a:cs typeface="PingFang SC"/>
              </a:rPr>
              <a:t>目录 → 归档 → 新目录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3E604-6348-49F4-A4B6-46226930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保留软硬链接、FIFO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以及基础文件元数据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ECC49-54FC-4DCC-B4D5-E9BD6BC9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90925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路径、类型、名称、时间、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大小、UID组合筛选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1D4F57-9031-4621-91C8-A29F47B2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48225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定时快照与目录变化检测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按任务保留最近N份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CC436-D368-44A8-BD98-A2CBC426AA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92a60f7154626"/>
          <a:stretch xmlns:a="http://schemas.openxmlformats.org/drawingml/2006/main"/>
        </p:blipFill>
        <p:spPr>
          <a:xfrm xmlns:a="http://schemas.openxmlformats.org/drawingml/2006/main">
            <a:off x="5524500" y="1963870"/>
            <a:ext cx="5972175" cy="43685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31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0D96D9-A10E-4A1A-9F83-94D48E6CD124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010525" y="3171825"/>
            <a:ext cx="933450" cy="2247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7C690-D998-4179-8CF6-A343C7266648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0201275" y="35528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5F2EA2-7080-4794-A908-7E3BDD1F3FB6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8010525" y="3052763"/>
            <a:ext cx="933450" cy="1190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17BE43-08E9-4EE7-8C3C-764C31BE6FF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8010525" y="1819275"/>
            <a:ext cx="933450" cy="1352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C9A60-9B3D-405D-A3FB-80AD393D7EC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3048000" y="3171825"/>
            <a:ext cx="93345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AFB724-0A7F-49BF-BC05-2B0C6E82B28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38475"/>
            <a:ext cx="933450" cy="1333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3F008E-7A1F-4C58-A6D0-F44C33724095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1962150"/>
            <a:ext cx="933450" cy="1209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2B01A6-5F03-47E5-B2E0-92D6D797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共享核心与模块职责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FD55A-EB1E-44C6-B880-307C5E09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1C33B6-4F9C-4F83-988B-19B72C33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Cocoa GUI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DAB6B-BC65-41B3-B422-CA903DEB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765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E4E8E-8E8C-4BB9-8340-988C86D5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23241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Scheduler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定时 / 轮询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59D7E-7CB8-440F-A9B1-DAF1D9E7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600325"/>
            <a:ext cx="40290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B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BackupService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backup / inspect / restore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A7195-3381-47DC-A8E6-42594CF8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419225"/>
            <a:ext cx="2514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FileScanner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扫描与筛选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D291D-FEF5-4F53-8EE6-9ADA5555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52700"/>
            <a:ext cx="25146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ArchiveWriter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72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ArchiveReader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6B4F07-8060-4858-8067-BF5BA7BB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886200"/>
            <a:ext cx="2514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HuffmanCodec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分块压缩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EA032F-70B3-4F94-B688-5A81540A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019675"/>
            <a:ext cx="2514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CryptoEnvelope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摘要 / 认证加密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31BE95-3712-41C9-A00C-166B9B3B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467225"/>
            <a:ext cx="43529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386B6C"/>
                </a:solidFill>
                <a:latin typeface="PingFang SC"/>
                <a:ea typeface="PingFang SC"/>
                <a:cs typeface="PingFang SC"/>
              </a:rPr>
              <a:t>Operation：协作取消与阶段进度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567AB1-68B5-4D1D-9E99-9B022E70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57900"/>
            <a:ext cx="1023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C++17 · macOS 13.0 arm64 · Apple Clang 14.0.3</a:t>
            </a:r>
          </a:p>
        </p:txBody>
      </p:sp>
    </p:spTree>
    <p:extLst>
      <p:ext uri="{BB962C8B-B14F-4D97-AF65-F5344CB8AC3E}">
        <p14:creationId xmlns:p14="http://schemas.microsoft.com/office/powerpoint/2010/main" val="20546753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629010-063A-465E-A8E9-73525A05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归档格式与算法选择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231FD-FEBB-46DB-814F-0A45ADF7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2CC3A-BF14-4951-855F-D538778C019C}"/>
              </a:ext>
            </a:extLst>
          </p:cNvPr>
          <p:cNvGraphicFramePr/>
          <p:nvPr/>
        </p:nvGraphicFramePr>
        <p:xfrm>
          <a:off xmlns:a="http://schemas.openxmlformats.org/drawingml/2006/main" x="619125" y="1514475"/>
          <a:ext xmlns:a="http://schemas.openxmlformats.org/drawingml/2006/main" cx="10906125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47875"/>
                <a:gridCol w="5810250"/>
                <a:gridCol w="3048000"/>
              </a:tblGrid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部分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实现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依赖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文件树归档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自定义SQBK / SQTREE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明确长度、类型与结束标志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项目实现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Huffman压缩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 MiB分块；收益不足回退原始块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项目实现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  <a:tr h="11811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密码封装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PBKDF2 + AES-256-CBC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HMAC-SHA256认证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CommonCrypto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Security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8CA3B-F4B3-44C3-9597-D600FC75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292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AC4B30"/>
                </a:solidFill>
                <a:latin typeface="PingFang SC"/>
                <a:ea typeface="PingFang SC"/>
                <a:cs typeface="PingFang SC"/>
              </a:rPr>
              <a:t>先压缩，再加密；恢复时先认证，再解密</a:t>
            </a:r>
          </a:p>
        </p:txBody>
      </p:sp>
    </p:spTree>
    <p:extLst>
      <p:ext uri="{BB962C8B-B14F-4D97-AF65-F5344CB8AC3E}">
        <p14:creationId xmlns:p14="http://schemas.microsoft.com/office/powerpoint/2010/main" val="20574093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909E2-2C7C-4417-8FB1-1CA84C7C188A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639175" y="2547938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3E7A1-A15D-4007-82D6-4EC7EAACEF41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848350" y="2547938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55D44-F142-47EB-A69D-24FD74003F1E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57525" y="2547938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86B6C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44C2E0-FBD4-41A2-98B6-01747F51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安全恢复与停止操作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9519A9-23AE-4126-9C0D-A57A2132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1DFCC-5F1D-426C-97F3-41FAA86B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763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AC4B30"/>
                </a:solidFill>
                <a:latin typeface="PingFang SC"/>
                <a:ea typeface="PingFang SC"/>
                <a:cs typeface="PingFang SC"/>
              </a:rPr>
              <a:t>恢复路径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F9B3D-4710-4EC7-98FD-D57F0A0E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24075"/>
            <a:ext cx="2428875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认证与校验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51CCD-2445-4DCD-8C87-8B80FDBD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24075"/>
            <a:ext cx="2428875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私有目录解包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2039CF-3519-4B50-9A5D-885EC9E6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428875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恢复元数据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69FC8-81FD-4F9F-9E82-F4A1AA7C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124075"/>
            <a:ext cx="2428875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EB"/>
          </a:solidFill>
          <a:ln xmlns:a="http://schemas.openxmlformats.org/drawingml/2006/main" w="14288">
            <a:solidFill>
              <a:srgbClr val="386B6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6000"/>
              </a:lnSpc>
              <a:buNone/>
              <a:def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不覆盖发布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66CEC-786F-4DB3-A956-93E2094A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805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386B6C"/>
                </a:solidFill>
                <a:latin typeface="PingFang SC"/>
                <a:ea typeface="PingFang SC"/>
                <a:cs typeface="PingFang SC"/>
              </a:rPr>
              <a:t>失败或取消：清理暂存，保留原备份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F6E255-1787-4900-B3AC-94D97D47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76725"/>
            <a:ext cx="108585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B8C2C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95D079-36B3-4223-A50E-CA81A72F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48200"/>
            <a:ext cx="10858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停止检查进入扫描、分块读写、元数据与发布前阶段。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备份发布前重新扫描，发现源目录变化则拒绝发布。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63B725-C4D5-4014-8318-40C1B99E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能力边界：不提供多文件事务快照或断电持久性保证</a:t>
            </a:r>
          </a:p>
        </p:txBody>
      </p:sp>
    </p:spTree>
    <p:extLst>
      <p:ext uri="{BB962C8B-B14F-4D97-AF65-F5344CB8AC3E}">
        <p14:creationId xmlns:p14="http://schemas.microsoft.com/office/powerpoint/2010/main" val="2474954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FD320F-2810-4D7F-85A6-76BC663A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当前版本测试结果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BEFE38-4452-485C-A4F9-7F73E0CB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59FFD-2571-457B-9B0A-F3503FD3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4619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pPr>
            <a:r>
              <a:rPr sz="6375" b="1">
                <a:solidFill>
                  <a:srgbClr val="AC4B30"/>
                </a:solidFill>
                <a:latin typeface="PingFang SC"/>
                <a:ea typeface="PingFang SC"/>
                <a:cs typeface="PingFang SC"/>
              </a:rPr>
              <a:t>97 / 97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2D5E9C-93D5-42BD-9E22-FD5517F2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771775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命名自动测试通过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77397-ED8B-47A1-A0D5-361C6FA5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9570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ASan / UBSan复测通过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旧版与新版双向恢复：4种组合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1E42B-6324-4677-A1DC-EE314AB32C05}"/>
              </a:ext>
            </a:extLst>
          </p:cNvPr>
          <p:cNvGraphicFramePr/>
          <p:nvPr/>
        </p:nvGraphicFramePr>
        <p:xfrm>
          <a:off xmlns:a="http://schemas.openxmlformats.org/drawingml/2006/main" x="5753100" y="1543050"/>
          <a:ext xmlns:a="http://schemas.openxmlformats.org/drawingml/2006/main" cx="5810250" cy="2962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1333500"/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测试层次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单元测试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52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CLI集成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21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异常归档与并发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18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工作流回归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F919A-9862-4469-B720-43E6F10F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353050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另有53项GUI内部断言；系统文件选择器仍待人工验收。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96759-49D5-4230-9E68-20964015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857875"/>
            <a:ext cx="1081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20小时持续测试正在运行，未记为通过。</a:t>
            </a:r>
          </a:p>
        </p:txBody>
      </p:sp>
    </p:spTree>
    <p:extLst>
      <p:ext uri="{BB962C8B-B14F-4D97-AF65-F5344CB8AC3E}">
        <p14:creationId xmlns:p14="http://schemas.microsoft.com/office/powerpoint/2010/main" val="6262857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002D7-9910-4C6D-B3CE-79E68A63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三人职责与复核安排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302CB-0226-4135-B0E8-442BF3B3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1A6BB-D8FB-403D-8719-5C130D7425F9}"/>
              </a:ext>
            </a:extLst>
          </p:cNvPr>
          <p:cNvGraphicFramePr/>
          <p:nvPr/>
        </p:nvGraphicFramePr>
        <p:xfrm>
          <a:off xmlns:a="http://schemas.openxmlformats.org/drawingml/2006/main" x="619125" y="1495425"/>
          <a:ext xmlns:a="http://schemas.openxmlformats.org/drawingml/2006/main" cx="10906125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5381625"/>
                <a:gridCol w="3571875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成员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主责模块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配套工作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T w="7620">
                      <a:solidFill>
                        <a:srgbClr val="B8C2C1"/>
                      </a:solidFill>
                    </a:lnT>
                    <a:lnB w="7620">
                      <a:solidFill>
                        <a:srgbClr val="B8C2C1"/>
                      </a:solidFill>
                    </a:lnB>
                    <a:solidFill>
                      <a:srgbClr val="222D3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杨梦宇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扫描、筛选、安全恢复、CLI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需求与用例、文件测试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郭畅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归档、Huffman、密码封装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设计与类图、算法测试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李想</a:t>
                      </a:r>
                    </a:p>
                  </a:txBody>
                  <a:tcPr marL="133350" marR="133350" marT="95250" marB="95250" anchor="ctr">
                    <a:lnL w="7620">
                      <a:solidFill>
                        <a:srgbClr val="B8C2C1"/>
                      </a:solidFill>
                    </a:lnL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GUI、自动任务、构建发布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D3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测试汇总、动态建模</a:t>
                      </a:r>
                    </a:p>
                  </a:txBody>
                  <a:tcPr marL="133350" marR="133350" marT="95250" marB="95250" anchor="ctr">
                    <a:lnR w="7620">
                      <a:solidFill>
                        <a:srgbClr val="B8C2C1"/>
                      </a:solidFill>
                    </a:lnR>
                    <a:lnB w="7620">
                      <a:solidFill>
                        <a:srgbClr val="B8C2C1"/>
                      </a:solidFill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69799-5520-4BB5-944F-B87FBB66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197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AC4B30"/>
                </a:solidFill>
                <a:latin typeface="PingFang SC"/>
                <a:ea typeface="PingFang SC"/>
                <a:cs typeface="PingFang SC"/>
              </a:rPr>
              <a:t>每人30点：实现14 + 测试5 + 文档建模5 + 复核演示6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96003-3E87-4ABA-AF69-8445BEE8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864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交叉复核：杨梦宇 → 郭畅 → 李想 → 杨梦宇</a:t>
            </a:r>
          </a:p>
        </p:txBody>
      </p:sp>
    </p:spTree>
    <p:extLst>
      <p:ext uri="{BB962C8B-B14F-4D97-AF65-F5344CB8AC3E}">
        <p14:creationId xmlns:p14="http://schemas.microsoft.com/office/powerpoint/2010/main" val="8802291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C8E0CA-3009-4EC6-A1DB-D6B09A04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答辩前推进计划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B5B2D-C6E2-42DD-B140-CEE380F1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BEB96F-6BE9-4D91-9E44-2DF643E9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1533525"/>
            <a:ext cx="83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10/29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10DA9-A9BD-451D-BA2F-01DA517B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009775"/>
            <a:ext cx="0" cy="341947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DE2D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FB01C-6C20-49ED-8B96-A8065856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33525"/>
            <a:ext cx="83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11/1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BD3B2-39A5-4256-B8AD-153F9796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09775"/>
            <a:ext cx="0" cy="341947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DE2D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BFAC6-6BA0-45E2-8A6E-79D8B753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533525"/>
            <a:ext cx="83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11/6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586206-EB62-40D2-84DC-71DB56C8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009775"/>
            <a:ext cx="0" cy="341947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DE2D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DDC1B-D659-47C8-9B49-16494E2E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533525"/>
            <a:ext cx="83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11/10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03CF6-D169-4022-98B1-FA5C7AC6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09775"/>
            <a:ext cx="0" cy="341947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DE2D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6DEC7-967A-4BD7-B6D0-BC475949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33525"/>
            <a:ext cx="83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11/15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BC10EC-AE3C-41C8-90E2-219EADE8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09775"/>
            <a:ext cx="0" cy="341947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DE2D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0997A9-EDCF-4914-92AD-3AAFDDBE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1533525"/>
            <a:ext cx="83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11/18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3B6D3-01E1-42C5-BCE4-E8B3F123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2009775"/>
            <a:ext cx="0" cy="341947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DE2D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835B08-7246-445B-82C2-102BB5AF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143125"/>
            <a:ext cx="2695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接手与复现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D3FB68-914F-4CF1-87CF-AA0D0615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1907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6B6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35DB0F-0847-451E-AE93-721A5E6C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09875"/>
            <a:ext cx="2695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界面与边界验收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34A4D-73C8-4CDE-AFA8-FFA9B33F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575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6B6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AF66E0-18AA-469A-90FA-259228C7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76625"/>
            <a:ext cx="2695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文档与模型复核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4D652-4B31-4239-A893-843CBEFA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24250"/>
            <a:ext cx="1438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6B6C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8D183-8EA6-4A0C-A553-F577A36F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43375"/>
            <a:ext cx="2695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演示与答辩排练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A73C0C-142D-4C2F-BDDB-36FDD109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91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6B6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502A41-ABB1-4E05-BA69-5220F72C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10125"/>
            <a:ext cx="2695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最终检查与提交准备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83EA55-7097-45FC-8ECF-E36DE42F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577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6B6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752064-6DD5-41D5-816F-CB091060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8645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AC4B30"/>
                </a:solidFill>
                <a:latin typeface="PingFang SC"/>
                <a:ea typeface="PingFang SC"/>
                <a:cs typeface="PingFang SC"/>
              </a:rPr>
              <a:t>2026年11月18日上午答辩；当日23:59前提交成电慕课</a:t>
            </a:r>
          </a:p>
        </p:txBody>
      </p:sp>
    </p:spTree>
    <p:extLst>
      <p:ext uri="{BB962C8B-B14F-4D97-AF65-F5344CB8AC3E}">
        <p14:creationId xmlns:p14="http://schemas.microsoft.com/office/powerpoint/2010/main" val="19717692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FFAA1-7AB6-4808-A4EF-1494736F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现场演示：验证后恢复到新目录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E3D18-CA12-4D67-A566-6F51BD8C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296025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8000"/>
              </a:lnSpc>
              <a:buNone/>
              <a:def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BD9359-86B8-4D4C-9B14-A7D736AA35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4a24a3dc24ab4"/>
          <a:stretch xmlns:a="http://schemas.openxmlformats.org/drawingml/2006/main"/>
        </p:blipFill>
        <p:spPr>
          <a:xfrm xmlns:a="http://schemas.openxmlformats.org/drawingml/2006/main">
            <a:off x="609600" y="1534892"/>
            <a:ext cx="6962775" cy="509314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D1A68-9F16-4853-87A4-88A2652E8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24025"/>
            <a:ext cx="3714750" cy="357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1  创建加密备份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2  验证并恢复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3  检查错误密码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222D32"/>
                </a:solidFill>
                <a:latin typeface="PingFang SC"/>
                <a:ea typeface="PingFang SC"/>
                <a:cs typeface="PingFang SC"/>
              </a:rPr>
              <a:t>4  展示任务保留与停止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DE2EB-FF4E-44EB-B3C7-9F34B6ED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553075"/>
            <a:ext cx="3619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本地完整备份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67274"/>
                </a:solidFill>
                <a:latin typeface="PingFang SC"/>
                <a:ea typeface="PingFang SC"/>
                <a:cs typeface="PingFang SC"/>
              </a:rPr>
              <a:t>暂不支持网络、增量与后台常驻</a:t>
            </a:r>
          </a:p>
        </p:txBody>
      </p:sp>
    </p:spTree>
    <p:extLst>
      <p:ext uri="{BB962C8B-B14F-4D97-AF65-F5344CB8AC3E}">
        <p14:creationId xmlns:p14="http://schemas.microsoft.com/office/powerpoint/2010/main" val="2933065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2026-10-29T04:14:35.7030000Z</dcterms:created>
  <dcterms:modified xsi:type="dcterms:W3CDTF">2026-10-29T04:14:35.7030000Z</dcterms:modified>
</coreProperties>
</file>