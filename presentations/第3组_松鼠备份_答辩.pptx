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7031f05a16e4977" /><Relationship Type="http://schemas.openxmlformats.org/officeDocument/2006/relationships/extended-properties" Target="/docProps/app.xml" Id="R5dd7ffd633584f8f" /><Relationship Type="http://schemas.openxmlformats.org/officeDocument/2006/relationships/officeDocument" Target="/ppt/presentation.xml" Id="R752b9a4dc033481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d91f9e09ccd4511"/>
  </p:sldMasterIdLst>
  <p:notesMasterIdLst>
    <p:notesMasterId xmlns:r="http://schemas.openxmlformats.org/officeDocument/2006/relationships" r:id="R0ade8acd7f9542e5"/>
  </p:notesMasterIdLst>
  <p:sldIdLst>
    <p:sldId xmlns:r="http://schemas.openxmlformats.org/officeDocument/2006/relationships" id="256" r:id="R26d3a139ba3f4e3e"/>
    <p:sldId xmlns:r="http://schemas.openxmlformats.org/officeDocument/2006/relationships" id="257" r:id="R156f300aad284f74"/>
    <p:sldId xmlns:r="http://schemas.openxmlformats.org/officeDocument/2006/relationships" id="258" r:id="R9b92cd07c3c24716"/>
    <p:sldId xmlns:r="http://schemas.openxmlformats.org/officeDocument/2006/relationships" id="259" r:id="R10fa9a6961c5464d"/>
    <p:sldId xmlns:r="http://schemas.openxmlformats.org/officeDocument/2006/relationships" id="260" r:id="Rb815302d500d4cc8"/>
    <p:sldId xmlns:r="http://schemas.openxmlformats.org/officeDocument/2006/relationships" id="261" r:id="R5644c6d1f75e4c23"/>
    <p:sldId xmlns:r="http://schemas.openxmlformats.org/officeDocument/2006/relationships" id="262" r:id="R9009b1fbc5a9458e"/>
    <p:sldId xmlns:r="http://schemas.openxmlformats.org/officeDocument/2006/relationships" id="263" r:id="Rca12719865a94ec9"/>
    <p:sldId xmlns:r="http://schemas.openxmlformats.org/officeDocument/2006/relationships" id="264" r:id="R4f5e96296dd04c2e"/>
    <p:sldId xmlns:r="http://schemas.openxmlformats.org/officeDocument/2006/relationships" id="265" r:id="R35bf418f562443fb"/>
    <p:sldId xmlns:r="http://schemas.openxmlformats.org/officeDocument/2006/relationships" id="266" r:id="R5b2e03bcdb9b402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694500b871e4fea" /><Relationship Type="http://schemas.openxmlformats.org/officeDocument/2006/relationships/slideMaster" Target="/ppt/slideMasters/slideMaster1.xml" Id="Rcd91f9e09ccd4511" /><Relationship Type="http://schemas.openxmlformats.org/officeDocument/2006/relationships/notesMaster" Target="/ppt/notesMasters/notesMaster1.xml" Id="R0ade8acd7f9542e5" /><Relationship Type="http://schemas.openxmlformats.org/officeDocument/2006/relationships/presProps" Target="/ppt/presProps.xml" Id="R415c98492c6b4d4a" /><Relationship Type="http://schemas.openxmlformats.org/officeDocument/2006/relationships/tableStyles" Target="/ppt/tableStyles.xml" Id="R2453d16ea49f423d" /><Relationship Type="http://schemas.openxmlformats.org/officeDocument/2006/relationships/slide" Target="/ppt/slides/slide1.xml" Id="R26d3a139ba3f4e3e" /><Relationship Type="http://schemas.openxmlformats.org/officeDocument/2006/relationships/slide" Target="/ppt/slides/slide2.xml" Id="R156f300aad284f74" /><Relationship Type="http://schemas.openxmlformats.org/officeDocument/2006/relationships/slide" Target="/ppt/slides/slide3.xml" Id="R9b92cd07c3c24716" /><Relationship Type="http://schemas.openxmlformats.org/officeDocument/2006/relationships/slide" Target="/ppt/slides/slide4.xml" Id="R10fa9a6961c5464d" /><Relationship Type="http://schemas.openxmlformats.org/officeDocument/2006/relationships/slide" Target="/ppt/slides/slide5.xml" Id="Rb815302d500d4cc8" /><Relationship Type="http://schemas.openxmlformats.org/officeDocument/2006/relationships/slide" Target="/ppt/slides/slide6.xml" Id="R5644c6d1f75e4c23" /><Relationship Type="http://schemas.openxmlformats.org/officeDocument/2006/relationships/slide" Target="/ppt/slides/slide7.xml" Id="R9009b1fbc5a9458e" /><Relationship Type="http://schemas.openxmlformats.org/officeDocument/2006/relationships/slide" Target="/ppt/slides/slide8.xml" Id="Rca12719865a94ec9" /><Relationship Type="http://schemas.openxmlformats.org/officeDocument/2006/relationships/slide" Target="/ppt/slides/slide9.xml" Id="R4f5e96296dd04c2e" /><Relationship Type="http://schemas.openxmlformats.org/officeDocument/2006/relationships/slide" Target="/ppt/slides/slide10.xml" Id="R35bf418f562443fb" /><Relationship Type="http://schemas.openxmlformats.org/officeDocument/2006/relationships/slide" Target="/ppt/slides/slide11.xml" Id="R5b2e03bcdb9b402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31636acb2bd400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84d70a339ec48e0" /><Relationship Type="http://schemas.openxmlformats.org/officeDocument/2006/relationships/notesMaster" Target="/ppt/notesMasters/notesMaster1.xml" Id="R33363d227b6d4e0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db5fe92de134eef" /><Relationship Type="http://schemas.openxmlformats.org/officeDocument/2006/relationships/notesMaster" Target="/ppt/notesMasters/notesMaster1.xml" Id="R877f5074d50d490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2eceaf75c95427b" /><Relationship Type="http://schemas.openxmlformats.org/officeDocument/2006/relationships/notesMaster" Target="/ppt/notesMasters/notesMaster1.xml" Id="R061160c98326424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853680c70ba4146" /><Relationship Type="http://schemas.openxmlformats.org/officeDocument/2006/relationships/notesMaster" Target="/ppt/notesMasters/notesMaster1.xml" Id="R16a27ff4f8f14fe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5c7d9f181e640d6" /><Relationship Type="http://schemas.openxmlformats.org/officeDocument/2006/relationships/notesMaster" Target="/ppt/notesMasters/notesMaster1.xml" Id="R483b9fb2bafb48d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bebb5076c604edb" /><Relationship Type="http://schemas.openxmlformats.org/officeDocument/2006/relationships/notesMaster" Target="/ppt/notesMasters/notesMaster1.xml" Id="Rf214e517dd5b4f6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029c3bf3d184144" /><Relationship Type="http://schemas.openxmlformats.org/officeDocument/2006/relationships/notesMaster" Target="/ppt/notesMasters/notesMaster1.xml" Id="R3c3c43917e1c40c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69ffed1377b4f79" /><Relationship Type="http://schemas.openxmlformats.org/officeDocument/2006/relationships/notesMaster" Target="/ppt/notesMasters/notesMaster1.xml" Id="R1cf3605b502443d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bb71037d6ac4d7b" /><Relationship Type="http://schemas.openxmlformats.org/officeDocument/2006/relationships/notesMaster" Target="/ppt/notesMasters/notesMaster1.xml" Id="Rc80918c12b294c0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2c48c17402047f3" /><Relationship Type="http://schemas.openxmlformats.org/officeDocument/2006/relationships/notesMaster" Target="/ppt/notesMasters/notesMaster1.xml" Id="Rd439e347f3cd4fcd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7c54e02487043fb" /><Relationship Type="http://schemas.openxmlformats.org/officeDocument/2006/relationships/notesMaster" Target="/ppt/notesMasters/notesMaster1.xml" Id="R79b4ee49d3db436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杨梦宇，约8秒。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我们第3组的项目是松鼠备份，用于本地文件的备份、验证和恢复，当前版本为0.2.0。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资料来源：项目版本0.2.0。来源：VERSION、README.md。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杨梦宇，约5秒。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下面从功能使用、设计实现和验证协作三个部分介绍。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资料来源：结构参考用户提供的自然保护地PPT，仅借鉴目录与页眉层次。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杨梦宇，约15秒。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基本流程是把目录保存成单个归档，再恢复到新目录。程序保留文件结构、软硬链接和基础元数据，支持六类组合筛选、压缩与密码保护。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资料来源：截图：docs/screenshots/desktop/21-neutral-backup.png。功能对应docs/01与include/squirrel/backup.h。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杨梦宇，约12秒。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自动任务支持定时备份和目录变化检测。每次启动建立独立任务目录，按设定份数保留最近快照。停止后，已经完成的备份继续保留。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资料来源：src/scheduler.cpp。桌面G07/G08/G09真实验证定时3秒、保留2份、目录变化和停止。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杨梦宇，约20秒。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原生界面、命令行和调度器共用BackupService。核心再分成扫描、归档、压缩和密码封装四个模块。开发使用macOS、C++17和Apple Clang，Git记录版本，cpplint检查Google C++规范。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资料来源：src/service.cpp、scanner.cpp、archive.cpp、scheduler.cpp、gui.mm；Makefile、.clang-format、scripts/check_style.py。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郭畅，约23秒。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SQBK负责外层封装，SQTREE记录目录树和数据块。Huffman按一兆字节分块，压缩没有收益时保存原始块。密码保护使用系统库的PBKDF2、AES和HMAC。备份先压缩再加密，恢复先认证再解密。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资料来源：src/archive.cpp、huffman.cpp、crypto.cpp、THIRD_PARTY.md。Huffman自研，PBKDF2/AES/HMAC调用CommonCrypto与Security。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郭畅，约22秒。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恢复分为认证、暂存解包、恢复元数据和发布新目录四步。取消检查进入扫描、分块读写、元数据和发布前阶段。错误密码、异常数据或主动取消时清理未完成暂存，保留已经发布的备份。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资料来源：src/service.cpp、archive.cpp及tests/core_test.cpp。真实桌面G05/G06/G09/G10覆盖不覆盖、错误密码、取消与退出。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李想，约25秒。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97项命名自动测试覆盖单元、命令行、异常归档和工作流，ASan与UBSan复测通过。此外，53项界面内部断言和12项桌面操作场景通过，包含系统选择器、密码错误、任务停止和退出。新旧版本明文及加密的四种恢复组合也通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资料来源：test-results/summary.json、gui-selftest.json、gui-desktop-acceptance.json、compatibility-020.json、sanitize-020.log。97不包含另外53项内部断言或12项桌面场景。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李想，约15秒。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三人分别负责文件恢复、格式算法和界面任务，每个方向都配套测试和文档。交叉复核围绕公共接口、恢复结果和演示材料展开，便于各模块保持一致。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资料来源：docs/07_三人分工与协作方案.md。三人分别负责对应模块的实现、测试和资料整理。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李想，约20秒。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版本从备份恢复基线演进到权限和变化检测修复，再加入取消、进度和回归。下方甘特图依据十月二十九日的Git提交记录，展示程序、测试和文档工作的记录区间。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资料来源：Git真实提交：69a2839(00:06)、dbde327(10:10)、b2b5bb9(12:56)、49300b7(17:24)、ba711cf(19:30)，均为2026-10-29。甘特条表示同类提交首末记录的区间。基线00:06–01:25，修复10:10–12:56，验证13:10–17:24，文档16:04–19:30。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郭畅，约15秒。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接下来展示加密备份、验证恢复、错误密码和任务保留与停止。我们会核对恢复后的文件内容、链接关系和文件类型，说明每一步的实际结果。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资料来源：截图：docs/screenshots/desktop/23-neutral-restored.png。操作顺序参见docs/06。本页结束三分钟讲解，随后按课程安排实际操作。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1c5bd9d0da84e45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dba1bea0d884b1a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c59911952554651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8e7a5830bb7421b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ca2caf743ae44f2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8ad8367f31a467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697FC871-CE51-4057-BCE9-EA0B9AC6DAB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5F7CC5E8-4561-47E8-A7CE-E10C8D022A5C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6D090071-D954-4198-BFD2-F6BDCDE8078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2A87028-069C-4D34-B77F-24FF155F9BA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FF24E9FE-5AC1-47A6-9A63-4DBBFC1C585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8B0DCA4D-0B19-4868-A1E9-A2D1A3A957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7C877E00-5606-48FC-AF7D-3292C1ADD83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F807D7E4-1DDE-4E74-8C38-0D4D4CCE76D9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1A3E564-5CAD-4BC8-A58C-D77A158297E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746CA734-47B6-4E2B-8C34-0AC833105C0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20fdc5e35cc4362" /><Relationship Type="http://schemas.openxmlformats.org/officeDocument/2006/relationships/slideLayout" Target="/ppt/slideLayouts/slideLayout1.xml" Id="R976e335762834e6f" /><Relationship Type="http://schemas.openxmlformats.org/officeDocument/2006/relationships/slideLayout" Target="/ppt/slideLayouts/slideLayout2.xml" Id="R7e5af88a036b4299" /><Relationship Type="http://schemas.openxmlformats.org/officeDocument/2006/relationships/slideLayout" Target="/ppt/slideLayouts/slideLayout3.xml" Id="R8030b04421df4ed6" /><Relationship Type="http://schemas.openxmlformats.org/officeDocument/2006/relationships/slideLayout" Target="/ppt/slideLayouts/slideLayout4.xml" Id="R01f0cf4b523c4870" /><Relationship Type="http://schemas.openxmlformats.org/officeDocument/2006/relationships/slideLayout" Target="/ppt/slideLayouts/slideLayout5.xml" Id="Rf986233db43f4373" /><Relationship Type="http://schemas.openxmlformats.org/officeDocument/2006/relationships/slideLayout" Target="/ppt/slideLayouts/slideLayout6.xml" Id="R511b1e40d86541a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76e335762834e6f"/>
    <p:sldLayoutId xmlns:r="http://schemas.openxmlformats.org/officeDocument/2006/relationships" id="2147483650" r:id="R7e5af88a036b4299"/>
    <p:sldLayoutId xmlns:r="http://schemas.openxmlformats.org/officeDocument/2006/relationships" id="2147483651" r:id="R8030b04421df4ed6"/>
    <p:sldLayoutId xmlns:r="http://schemas.openxmlformats.org/officeDocument/2006/relationships" id="2147483652" r:id="R01f0cf4b523c4870"/>
    <p:sldLayoutId xmlns:r="http://schemas.openxmlformats.org/officeDocument/2006/relationships" id="2147483653" r:id="Rf986233db43f4373"/>
    <p:sldLayoutId xmlns:r="http://schemas.openxmlformats.org/officeDocument/2006/relationships" id="2147483654" r:id="R511b1e40d86541a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d3b7529c86948c1" /><Relationship Type="http://schemas.openxmlformats.org/officeDocument/2006/relationships/notesSlide" Target="/ppt/notesSlides/notesSlide1.xml" Id="R53b139e0cd124fb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f1e2f15cb074ead" /><Relationship Type="http://schemas.openxmlformats.org/officeDocument/2006/relationships/notesSlide" Target="/ppt/notesSlides/notesSlide2.xml" Id="R9c60e7c77d14403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6a1f84fd6324bd1" /><Relationship Type="http://schemas.openxmlformats.org/officeDocument/2006/relationships/image" Target="/ppt/media/image.png" Id="Rb9cf58ec730c4f83" /><Relationship Type="http://schemas.openxmlformats.org/officeDocument/2006/relationships/notesSlide" Target="/ppt/notesSlides/notesSlide3.xml" Id="R2f8e459dee1d440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60a10ec45754b02" /><Relationship Type="http://schemas.openxmlformats.org/officeDocument/2006/relationships/notesSlide" Target="/ppt/notesSlides/notesSlide4.xml" Id="R48dc1ba6401043f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428f309b49a4136" /><Relationship Type="http://schemas.openxmlformats.org/officeDocument/2006/relationships/notesSlide" Target="/ppt/notesSlides/notesSlide5.xml" Id="Ra87f7152689e46c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43377d558d64267" /><Relationship Type="http://schemas.openxmlformats.org/officeDocument/2006/relationships/notesSlide" Target="/ppt/notesSlides/notesSlide6.xml" Id="Rfe1283aaa9494ff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434993e52344763" /><Relationship Type="http://schemas.openxmlformats.org/officeDocument/2006/relationships/notesSlide" Target="/ppt/notesSlides/notesSlide7.xml" Id="R6edb6672842e4de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e49b8e7cf2f4344" /><Relationship Type="http://schemas.openxmlformats.org/officeDocument/2006/relationships/notesSlide" Target="/ppt/notesSlides/notesSlide8.xml" Id="R79248e15813a430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92db1bf05e64fcc" /><Relationship Type="http://schemas.openxmlformats.org/officeDocument/2006/relationships/notesSlide" Target="/ppt/notesSlides/notesSlide9.xml" Id="Re3c89404221649a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26d03f984a14b59" /><Relationship Type="http://schemas.openxmlformats.org/officeDocument/2006/relationships/notesSlide" Target="/ppt/notesSlides/notesSlide10.xml" Id="R1ea7491bd3cf47e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23fbdaf360e400a" /><Relationship Type="http://schemas.openxmlformats.org/officeDocument/2006/relationships/image" Target="/ppt/media/image2.png" Id="R356682bfc42b4ed3" /><Relationship Type="http://schemas.openxmlformats.org/officeDocument/2006/relationships/notesSlide" Target="/ppt/notesSlides/notesSlide11.xml" Id="R0fdf0b061f0040b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20393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69550E3-92F6-4D32-9B9E-F50A17431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0"/>
            <a:ext cx="2381250" cy="1762125"/>
          </a:xfrm>
          <a:custGeom xmlns:a="http://schemas.openxmlformats.org/drawingml/2006/main">
            <a:pathLst>
              <a:path w="2381250" h="1762125">
                <a:moveTo>
                  <a:pt x="0" y="0"/>
                </a:moveTo>
                <a:cubicBezTo>
                  <a:pt x="190500" y="809625"/>
                  <a:pt x="952500" y="762000"/>
                  <a:pt x="2286000" y="1666875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375459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6AB990-B624-4B71-B45D-8C7672317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0"/>
            <a:ext cx="2228850" cy="1885950"/>
          </a:xfrm>
          <a:custGeom xmlns:a="http://schemas.openxmlformats.org/drawingml/2006/main">
            <a:pathLst>
              <a:path w="2228850" h="1885950">
                <a:moveTo>
                  <a:pt x="0" y="0"/>
                </a:moveTo>
                <a:cubicBezTo>
                  <a:pt x="190500" y="866775"/>
                  <a:pt x="933450" y="857250"/>
                  <a:pt x="2133600" y="1790700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375459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9AA3FF-A0F9-4483-875D-3C3EB4E49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0"/>
            <a:ext cx="2076450" cy="2009775"/>
          </a:xfrm>
          <a:custGeom xmlns:a="http://schemas.openxmlformats.org/drawingml/2006/main">
            <a:pathLst>
              <a:path w="2076450" h="2009775">
                <a:moveTo>
                  <a:pt x="0" y="0"/>
                </a:moveTo>
                <a:cubicBezTo>
                  <a:pt x="190500" y="923925"/>
                  <a:pt x="914400" y="952500"/>
                  <a:pt x="1981200" y="1914525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375459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6585B4-2579-42B9-BE46-73A7E6F66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0"/>
            <a:ext cx="1924050" cy="2133600"/>
          </a:xfrm>
          <a:custGeom xmlns:a="http://schemas.openxmlformats.org/drawingml/2006/main">
            <a:pathLst>
              <a:path w="1924050" h="2133600">
                <a:moveTo>
                  <a:pt x="0" y="0"/>
                </a:moveTo>
                <a:cubicBezTo>
                  <a:pt x="190500" y="981075"/>
                  <a:pt x="895350" y="1047750"/>
                  <a:pt x="1828800" y="2038350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375459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8F50DA-0EFD-48E2-BE20-83CDD39CA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0"/>
            <a:ext cx="1771650" cy="2257425"/>
          </a:xfrm>
          <a:custGeom xmlns:a="http://schemas.openxmlformats.org/drawingml/2006/main">
            <a:pathLst>
              <a:path w="1771650" h="2257425">
                <a:moveTo>
                  <a:pt x="0" y="0"/>
                </a:moveTo>
                <a:cubicBezTo>
                  <a:pt x="190500" y="1038225"/>
                  <a:pt x="876300" y="1143000"/>
                  <a:pt x="1676400" y="2162175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375459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3DCED0-0927-4FE0-A3A3-EBB0F373C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0"/>
            <a:ext cx="1619250" cy="2381250"/>
          </a:xfrm>
          <a:custGeom xmlns:a="http://schemas.openxmlformats.org/drawingml/2006/main">
            <a:pathLst>
              <a:path w="1619250" h="2381250">
                <a:moveTo>
                  <a:pt x="0" y="0"/>
                </a:moveTo>
                <a:cubicBezTo>
                  <a:pt x="190500" y="1095375"/>
                  <a:pt x="857250" y="1238250"/>
                  <a:pt x="1524000" y="2286000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375459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677758-AC35-46DF-A6C3-1012A73E1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87050" y="0"/>
            <a:ext cx="1466850" cy="2505075"/>
          </a:xfrm>
          <a:custGeom xmlns:a="http://schemas.openxmlformats.org/drawingml/2006/main">
            <a:pathLst>
              <a:path w="1466850" h="2505075">
                <a:moveTo>
                  <a:pt x="0" y="0"/>
                </a:moveTo>
                <a:cubicBezTo>
                  <a:pt x="190500" y="1152525"/>
                  <a:pt x="838200" y="1333500"/>
                  <a:pt x="1371600" y="2409825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375459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6C366B0-8D5E-4779-9C7D-594C49AF9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89A62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CBA876F-501F-4AC9-B0CD-C5EDD8E88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619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B5C9C3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725" b="0">
                <a:solidFill>
                  <a:srgbClr val="B5C9C3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725" b="0">
                <a:solidFill>
                  <a:srgbClr val="B5C9C3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725" b="0">
                <a:solidFill>
                  <a:srgbClr val="B5C9C3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725" b="0">
                <a:solidFill>
                  <a:srgbClr val="B5C9C3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725" b="0">
                <a:solidFill>
                  <a:srgbClr val="B5C9C3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725" b="0">
                <a:solidFill>
                  <a:srgbClr val="B5C9C3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725" b="0">
                <a:solidFill>
                  <a:srgbClr val="B5C9C3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725" b="0">
                <a:solidFill>
                  <a:srgbClr val="B5C9C3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725" b="0">
                <a:solidFill>
                  <a:srgbClr val="B5C9C3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725" b="0">
                <a:solidFill>
                  <a:srgbClr val="B5C9C3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B5C9C3"/>
                </a:solidFill>
                <a:latin typeface="PingFang SC"/>
                <a:ea typeface="PingFang SC"/>
                <a:cs typeface="PingFang SC"/>
              </a:rPr>
              <a:t>软件开发综合实验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FBB4247-B587-4512-A180-EEA8AD018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71650"/>
            <a:ext cx="6524625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60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60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60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60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60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60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60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60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60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60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60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607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松鼠备份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2EC05B4-2009-464B-A629-857E30B94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009900"/>
            <a:ext cx="6286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625" b="0">
                <a:solidFill>
                  <a:srgbClr val="CDDDD4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2625" b="0">
                <a:solidFill>
                  <a:srgbClr val="CDDDD4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2625" b="0">
                <a:solidFill>
                  <a:srgbClr val="CDDDD4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2625" b="0">
                <a:solidFill>
                  <a:srgbClr val="CDDDD4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2625" b="0">
                <a:solidFill>
                  <a:srgbClr val="CDDDD4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2625" b="0">
                <a:solidFill>
                  <a:srgbClr val="CDDDD4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2625" b="0">
                <a:solidFill>
                  <a:srgbClr val="CDDDD4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2625" b="0">
                <a:solidFill>
                  <a:srgbClr val="CDDDD4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2625" b="0">
                <a:solidFill>
                  <a:srgbClr val="CDDDD4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2625" b="0">
                <a:solidFill>
                  <a:srgbClr val="CDDDD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625" b="0">
                <a:solidFill>
                  <a:srgbClr val="CDDDD4"/>
                </a:solidFill>
                <a:latin typeface="PingFang SC"/>
                <a:ea typeface="PingFang SC"/>
                <a:cs typeface="PingFang SC"/>
              </a:defRPr>
            </a:pPr>
            <a:r>
              <a:rPr sz="2625" b="0">
                <a:solidFill>
                  <a:srgbClr val="CDDDD4"/>
                </a:solidFill>
                <a:latin typeface="PingFang SC"/>
                <a:ea typeface="PingFang SC"/>
                <a:cs typeface="PingFang SC"/>
              </a:rPr>
              <a:t>本地文件备份与恢复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615A885-4856-4C3E-AF86-703536316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857625"/>
            <a:ext cx="7905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B89A62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0D040E4-8A90-47BC-8B56-799246972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124325"/>
            <a:ext cx="59055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950" b="0">
                <a:solidFill>
                  <a:srgbClr val="B4C8C2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sz="1950" b="0">
                <a:solidFill>
                  <a:srgbClr val="B4C8C2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sz="1950" b="0">
                <a:solidFill>
                  <a:srgbClr val="B4C8C2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sz="1950" b="0">
                <a:solidFill>
                  <a:srgbClr val="B4C8C2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sz="1950" b="0">
                <a:solidFill>
                  <a:srgbClr val="B4C8C2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sz="1950" b="0">
                <a:solidFill>
                  <a:srgbClr val="B4C8C2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sz="1950" b="0">
                <a:solidFill>
                  <a:srgbClr val="B4C8C2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sz="1950" b="0">
                <a:solidFill>
                  <a:srgbClr val="B4C8C2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sz="1950" b="0">
                <a:solidFill>
                  <a:srgbClr val="B4C8C2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sz="1950" b="0">
                <a:solidFill>
                  <a:srgbClr val="B4C8C2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950" b="0">
                <a:solidFill>
                  <a:srgbClr val="B4C8C2"/>
                </a:solidFill>
                <a:latin typeface="Avenir Next"/>
                <a:ea typeface="Avenir Next"/>
                <a:cs typeface="Avenir Next"/>
              </a:defRPr>
            </a:pPr>
            <a:r>
              <a:rPr sz="1950" b="0">
                <a:solidFill>
                  <a:srgbClr val="B4C8C2"/>
                </a:solidFill>
                <a:latin typeface="Avenir Next"/>
                <a:ea typeface="Avenir Next"/>
                <a:cs typeface="Avenir Next"/>
              </a:rPr>
              <a:t>SQUIRREL BACKUP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C896014-61E4-4A35-AE64-7AB1CB30A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1762125"/>
            <a:ext cx="2647950" cy="2781300"/>
          </a:xfrm>
          <a:prstGeom xmlns:a="http://schemas.openxmlformats.org/drawingml/2006/main" prst="roundRect">
            <a:avLst>
              <a:gd name="adj" fmla="val 2878"/>
            </a:avLst>
          </a:prstGeom>
          <a:solidFill xmlns:a="http://schemas.openxmlformats.org/drawingml/2006/main">
            <a:srgbClr val="2B474C"/>
          </a:solidFill>
          <a:ln xmlns:a="http://schemas.openxmlformats.org/drawingml/2006/main" w="9525">
            <a:solidFill>
              <a:srgbClr val="54716C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85899EE-ADA6-4ABB-BAEC-1971B6334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0025" y="2095500"/>
            <a:ext cx="2647950" cy="2781300"/>
          </a:xfrm>
          <a:prstGeom xmlns:a="http://schemas.openxmlformats.org/drawingml/2006/main" prst="roundRect">
            <a:avLst>
              <a:gd name="adj" fmla="val 2878"/>
            </a:avLst>
          </a:prstGeom>
          <a:solidFill xmlns:a="http://schemas.openxmlformats.org/drawingml/2006/main">
            <a:srgbClr val="36534F"/>
          </a:solidFill>
          <a:ln xmlns:a="http://schemas.openxmlformats.org/drawingml/2006/main" w="9525">
            <a:solidFill>
              <a:srgbClr val="69887A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0F89845-FCB8-4A74-A835-8EA422CDA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428875"/>
            <a:ext cx="2647950" cy="2781300"/>
          </a:xfrm>
          <a:prstGeom xmlns:a="http://schemas.openxmlformats.org/drawingml/2006/main" prst="roundRect">
            <a:avLst>
              <a:gd name="adj" fmla="val 2878"/>
            </a:avLst>
          </a:prstGeom>
          <a:solidFill xmlns:a="http://schemas.openxmlformats.org/drawingml/2006/main">
            <a:srgbClr val="E6E7D8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3C12340-DBF2-4BE8-97DE-6D3BF96B1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209800"/>
            <a:ext cx="10477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6E7D8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D206F12-B148-4B52-92E2-4AB174DEB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4675" y="3138488"/>
            <a:ext cx="736600" cy="851694"/>
          </a:xfrm>
          <a:prstGeom xmlns:a="http://schemas.openxmlformats.org/drawingml/2006/main" prst="roundRect">
            <a:avLst>
              <a:gd name="adj" fmla="val 10345"/>
            </a:avLst>
          </a:prstGeom>
          <a:noFill xmlns:a="http://schemas.openxmlformats.org/drawingml/2006/main"/>
          <a:ln xmlns:a="http://schemas.openxmlformats.org/drawingml/2006/main" w="52943">
            <a:solidFill>
              <a:srgbClr val="47776F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56EB9A1-5209-4A8B-9676-A5EBD29AA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600" y="3092450"/>
            <a:ext cx="9207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52943">
            <a:solidFill>
              <a:srgbClr val="47776F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6EFCE6C-9D5D-4CC7-97C2-D3E3A0288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7881" y="3552825"/>
            <a:ext cx="230187" cy="953"/>
          </a:xfrm>
          <a:custGeom xmlns:a="http://schemas.openxmlformats.org/drawingml/2006/main">
            <a:pathLst>
              <a:path w="230187" h="953">
                <a:moveTo>
                  <a:pt x="0" y="0"/>
                </a:moveTo>
                <a:lnTo>
                  <a:pt x="230187" y="0"/>
                </a:lnTo>
              </a:path>
            </a:pathLst>
          </a:custGeom>
          <a:noFill xmlns:a="http://schemas.openxmlformats.org/drawingml/2006/main"/>
          <a:ln xmlns:a="http://schemas.openxmlformats.org/drawingml/2006/main" w="52943">
            <a:solidFill>
              <a:srgbClr val="47776F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A931B0E-CB77-4F55-AA24-D8A4A961A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7881" y="3644900"/>
            <a:ext cx="230187" cy="953"/>
          </a:xfrm>
          <a:custGeom xmlns:a="http://schemas.openxmlformats.org/drawingml/2006/main">
            <a:pathLst>
              <a:path w="230187" h="953">
                <a:moveTo>
                  <a:pt x="0" y="0"/>
                </a:moveTo>
                <a:lnTo>
                  <a:pt x="230187" y="0"/>
                </a:lnTo>
              </a:path>
            </a:pathLst>
          </a:custGeom>
          <a:noFill xmlns:a="http://schemas.openxmlformats.org/drawingml/2006/main"/>
          <a:ln xmlns:a="http://schemas.openxmlformats.org/drawingml/2006/main" w="52943">
            <a:solidFill>
              <a:srgbClr val="47776F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4790838-D944-40F0-A315-800B5C51F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0025" y="4371975"/>
            <a:ext cx="1638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7C4B5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DC1752B-4744-49CE-ACBC-5405AB345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4333875"/>
            <a:ext cx="895350" cy="895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6C43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556B2C5-CAE3-4985-A608-A413947C7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4591050"/>
            <a:ext cx="381000" cy="3810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1908">
            <a:solidFill>
              <a:srgbClr val="FFFFFF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5B95BBB-A33B-4FAA-804B-08FBA771B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7425" y="4781550"/>
            <a:ext cx="76200" cy="76200"/>
          </a:xfrm>
          <a:custGeom xmlns:a="http://schemas.openxmlformats.org/drawingml/2006/main">
            <a:pathLst>
              <a:path w="76200" h="76200">
                <a:moveTo>
                  <a:pt x="0" y="0"/>
                </a:moveTo>
                <a:lnTo>
                  <a:pt x="76200" y="76200"/>
                </a:lnTo>
              </a:path>
            </a:pathLst>
          </a:custGeom>
          <a:noFill xmlns:a="http://schemas.openxmlformats.org/drawingml/2006/main"/>
          <a:ln xmlns:a="http://schemas.openxmlformats.org/drawingml/2006/main" w="21908">
            <a:solidFill>
              <a:srgbClr val="FFFFFF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0F0CE92-9EF3-4D1B-8F73-F1FCF80B5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4705350"/>
            <a:ext cx="133350" cy="152400"/>
          </a:xfrm>
          <a:custGeom xmlns:a="http://schemas.openxmlformats.org/drawingml/2006/main">
            <a:pathLst>
              <a:path w="133350" h="152400">
                <a:moveTo>
                  <a:pt x="0" y="152400"/>
                </a:moveTo>
                <a:lnTo>
                  <a:pt x="1333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1908">
            <a:solidFill>
              <a:srgbClr val="FFFFFF"/>
            </a:solidFill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D8248C2-25CA-4BB3-9564-325EAE2B2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5229225"/>
            <a:ext cx="1476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75" b="0">
                <a:solidFill>
                  <a:srgbClr val="B5C9C3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sz="1875" b="0">
                <a:solidFill>
                  <a:srgbClr val="B5C9C3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sz="1875" b="0">
                <a:solidFill>
                  <a:srgbClr val="B5C9C3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sz="1875" b="0">
                <a:solidFill>
                  <a:srgbClr val="B5C9C3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sz="1875" b="0">
                <a:solidFill>
                  <a:srgbClr val="B5C9C3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sz="1875" b="0">
                <a:solidFill>
                  <a:srgbClr val="B5C9C3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sz="1875" b="0">
                <a:solidFill>
                  <a:srgbClr val="B5C9C3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sz="1875" b="0">
                <a:solidFill>
                  <a:srgbClr val="B5C9C3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sz="1875" b="0">
                <a:solidFill>
                  <a:srgbClr val="B5C9C3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sz="1875" b="0">
                <a:solidFill>
                  <a:srgbClr val="B5C9C3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75" b="0">
                <a:solidFill>
                  <a:srgbClr val="B5C9C3"/>
                </a:solidFill>
                <a:latin typeface="Avenir Next"/>
                <a:ea typeface="Avenir Next"/>
                <a:cs typeface="Avenir Next"/>
              </a:defRPr>
            </a:pPr>
            <a:r>
              <a:rPr sz="1875" b="0">
                <a:solidFill>
                  <a:srgbClr val="B5C9C3"/>
                </a:solidFill>
                <a:latin typeface="Avenir Next"/>
                <a:ea typeface="Avenir Next"/>
                <a:cs typeface="Avenir Next"/>
              </a:rPr>
              <a:t>0.2.0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D874908-D3E9-4B22-8946-F9650DAC0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629275"/>
            <a:ext cx="109251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A615E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0A7861D-66CA-4282-B2B9-904E61E80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5857875"/>
            <a:ext cx="1047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CFB98E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725" b="0">
                <a:solidFill>
                  <a:srgbClr val="CFB98E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725" b="0">
                <a:solidFill>
                  <a:srgbClr val="CFB98E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725" b="0">
                <a:solidFill>
                  <a:srgbClr val="CFB98E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725" b="0">
                <a:solidFill>
                  <a:srgbClr val="CFB98E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725" b="0">
                <a:solidFill>
                  <a:srgbClr val="CFB98E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725" b="0">
                <a:solidFill>
                  <a:srgbClr val="CFB98E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725" b="0">
                <a:solidFill>
                  <a:srgbClr val="CFB98E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725" b="0">
                <a:solidFill>
                  <a:srgbClr val="CFB98E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725" b="0">
                <a:solidFill>
                  <a:srgbClr val="CFB98E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725" b="0">
                <a:solidFill>
                  <a:srgbClr val="CFB98E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CFB98E"/>
                </a:solidFill>
                <a:latin typeface="PingFang SC"/>
                <a:ea typeface="PingFang SC"/>
                <a:cs typeface="PingFang SC"/>
              </a:rPr>
              <a:t>第 3 组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E0D218B-B071-41E9-B116-03AAC7A75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5800725"/>
            <a:ext cx="66675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75" b="0">
                <a:solidFill>
                  <a:srgbClr val="E0E8E2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575" b="0">
                <a:solidFill>
                  <a:srgbClr val="E0E8E2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575" b="0">
                <a:solidFill>
                  <a:srgbClr val="E0E8E2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575" b="0">
                <a:solidFill>
                  <a:srgbClr val="E0E8E2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575" b="0">
                <a:solidFill>
                  <a:srgbClr val="E0E8E2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575" b="0">
                <a:solidFill>
                  <a:srgbClr val="E0E8E2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575" b="0">
                <a:solidFill>
                  <a:srgbClr val="E0E8E2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575" b="0">
                <a:solidFill>
                  <a:srgbClr val="E0E8E2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575" b="0">
                <a:solidFill>
                  <a:srgbClr val="E0E8E2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575" b="0">
                <a:solidFill>
                  <a:srgbClr val="E0E8E2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575" b="0">
                <a:solidFill>
                  <a:srgbClr val="E0E8E2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E0E8E2"/>
                </a:solidFill>
                <a:latin typeface="PingFang SC"/>
                <a:ea typeface="PingFang SC"/>
                <a:cs typeface="PingFang SC"/>
              </a:rPr>
              <a:t>杨梦宇   2023150901002   组长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49C614B-9B12-4564-B7D0-CE7B6DA52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6134100"/>
            <a:ext cx="47625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75" b="0">
                <a:solidFill>
                  <a:srgbClr val="E0E8E2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575" b="0">
                <a:solidFill>
                  <a:srgbClr val="E0E8E2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575" b="0">
                <a:solidFill>
                  <a:srgbClr val="E0E8E2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575" b="0">
                <a:solidFill>
                  <a:srgbClr val="E0E8E2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575" b="0">
                <a:solidFill>
                  <a:srgbClr val="E0E8E2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575" b="0">
                <a:solidFill>
                  <a:srgbClr val="E0E8E2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575" b="0">
                <a:solidFill>
                  <a:srgbClr val="E0E8E2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575" b="0">
                <a:solidFill>
                  <a:srgbClr val="E0E8E2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575" b="0">
                <a:solidFill>
                  <a:srgbClr val="E0E8E2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575" b="0">
                <a:solidFill>
                  <a:srgbClr val="E0E8E2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575" b="0">
                <a:solidFill>
                  <a:srgbClr val="E0E8E2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E0E8E2"/>
                </a:solidFill>
                <a:latin typeface="PingFang SC"/>
                <a:ea typeface="PingFang SC"/>
                <a:cs typeface="PingFang SC"/>
              </a:rPr>
              <a:t>郭畅       2023040904017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D1119B3-17F7-46B2-9C53-041E2A928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2325" y="6134100"/>
            <a:ext cx="44767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75" b="0">
                <a:solidFill>
                  <a:srgbClr val="E0E8E2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575" b="0">
                <a:solidFill>
                  <a:srgbClr val="E0E8E2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575" b="0">
                <a:solidFill>
                  <a:srgbClr val="E0E8E2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575" b="0">
                <a:solidFill>
                  <a:srgbClr val="E0E8E2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575" b="0">
                <a:solidFill>
                  <a:srgbClr val="E0E8E2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575" b="0">
                <a:solidFill>
                  <a:srgbClr val="E0E8E2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575" b="0">
                <a:solidFill>
                  <a:srgbClr val="E0E8E2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575" b="0">
                <a:solidFill>
                  <a:srgbClr val="E0E8E2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575" b="0">
                <a:solidFill>
                  <a:srgbClr val="E0E8E2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575" b="0">
                <a:solidFill>
                  <a:srgbClr val="E0E8E2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575" b="0">
                <a:solidFill>
                  <a:srgbClr val="E0E8E2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E0E8E2"/>
                </a:solidFill>
                <a:latin typeface="PingFang SC"/>
                <a:ea typeface="PingFang SC"/>
                <a:cs typeface="PingFang SC"/>
              </a:rPr>
              <a:t>李想   2023150901012</a:t>
            </a:r>
          </a:p>
        </p:txBody>
      </p:sp>
    </p:spTree>
    <p:extLst>
      <p:ext uri="{BB962C8B-B14F-4D97-AF65-F5344CB8AC3E}">
        <p14:creationId xmlns:p14="http://schemas.microsoft.com/office/powerpoint/2010/main" val="155894311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15F12CB-6BC3-401C-A0F7-025395DF6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0"/>
            <a:ext cx="2381250" cy="1762125"/>
          </a:xfrm>
          <a:custGeom xmlns:a="http://schemas.openxmlformats.org/drawingml/2006/main">
            <a:pathLst>
              <a:path w="2381250" h="1762125">
                <a:moveTo>
                  <a:pt x="0" y="0"/>
                </a:moveTo>
                <a:cubicBezTo>
                  <a:pt x="190500" y="809625"/>
                  <a:pt x="952500" y="762000"/>
                  <a:pt x="2286000" y="1666875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E1E7DE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5CB5C52-1032-4431-AB75-F54B86893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0"/>
            <a:ext cx="2228850" cy="1885950"/>
          </a:xfrm>
          <a:custGeom xmlns:a="http://schemas.openxmlformats.org/drawingml/2006/main">
            <a:pathLst>
              <a:path w="2228850" h="1885950">
                <a:moveTo>
                  <a:pt x="0" y="0"/>
                </a:moveTo>
                <a:cubicBezTo>
                  <a:pt x="190500" y="866775"/>
                  <a:pt x="933450" y="857250"/>
                  <a:pt x="2133600" y="1790700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E1E7DE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EC692C0-138B-42A8-9C97-4F3A481AE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0"/>
            <a:ext cx="2076450" cy="2009775"/>
          </a:xfrm>
          <a:custGeom xmlns:a="http://schemas.openxmlformats.org/drawingml/2006/main">
            <a:pathLst>
              <a:path w="2076450" h="2009775">
                <a:moveTo>
                  <a:pt x="0" y="0"/>
                </a:moveTo>
                <a:cubicBezTo>
                  <a:pt x="190500" y="923925"/>
                  <a:pt x="914400" y="952500"/>
                  <a:pt x="1981200" y="1914525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E1E7DE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E3934F-8062-4ABE-B8D6-A300DFBA3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0"/>
            <a:ext cx="1924050" cy="2133600"/>
          </a:xfrm>
          <a:custGeom xmlns:a="http://schemas.openxmlformats.org/drawingml/2006/main">
            <a:pathLst>
              <a:path w="1924050" h="2133600">
                <a:moveTo>
                  <a:pt x="0" y="0"/>
                </a:moveTo>
                <a:cubicBezTo>
                  <a:pt x="190500" y="981075"/>
                  <a:pt x="895350" y="1047750"/>
                  <a:pt x="1828800" y="2038350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E1E7DE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A38CEF-5272-4C1F-957A-B4257B733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0"/>
            <a:ext cx="1771650" cy="2257425"/>
          </a:xfrm>
          <a:custGeom xmlns:a="http://schemas.openxmlformats.org/drawingml/2006/main">
            <a:pathLst>
              <a:path w="1771650" h="2257425">
                <a:moveTo>
                  <a:pt x="0" y="0"/>
                </a:moveTo>
                <a:cubicBezTo>
                  <a:pt x="190500" y="1038225"/>
                  <a:pt x="876300" y="1143000"/>
                  <a:pt x="1676400" y="2162175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E1E7DE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1A357A9-6094-4CAC-84A4-69203E3BA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0"/>
            <a:ext cx="1619250" cy="2381250"/>
          </a:xfrm>
          <a:custGeom xmlns:a="http://schemas.openxmlformats.org/drawingml/2006/main">
            <a:pathLst>
              <a:path w="1619250" h="2381250">
                <a:moveTo>
                  <a:pt x="0" y="0"/>
                </a:moveTo>
                <a:cubicBezTo>
                  <a:pt x="190500" y="1095375"/>
                  <a:pt x="857250" y="1238250"/>
                  <a:pt x="1524000" y="2286000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E1E7DE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8CB04CD-2EC7-4FB2-9CE1-CECF640DF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87050" y="0"/>
            <a:ext cx="1466850" cy="2505075"/>
          </a:xfrm>
          <a:custGeom xmlns:a="http://schemas.openxmlformats.org/drawingml/2006/main">
            <a:pathLst>
              <a:path w="1466850" h="2505075">
                <a:moveTo>
                  <a:pt x="0" y="0"/>
                </a:moveTo>
                <a:cubicBezTo>
                  <a:pt x="190500" y="1152525"/>
                  <a:pt x="838200" y="1333500"/>
                  <a:pt x="1371600" y="2409825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E1E7DE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EB2DDD8-A735-437D-A299-9E312CE91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89A62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BC5152-B648-45B2-884B-428357D66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7675"/>
            <a:ext cx="10287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pPr>
            <a:r>
              <a: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rPr>
              <a:t>汇报目录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A7064FE-84B3-421A-9EE9-71EABA7A8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00150"/>
            <a:ext cx="11010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4DDD7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694A9D6-7246-4945-9F3E-E319062E7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00150"/>
            <a:ext cx="5429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B89A62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465ADC1-D7D4-45B7-81F7-DABA569B4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71450"/>
            <a:ext cx="37814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defPPr>
            <a:lvl1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1pPr>
            <a:lvl2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2pPr>
            <a:lvl3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3pPr>
            <a:lvl4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4pPr>
            <a:lvl5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5pPr>
            <a:lvl6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6pPr>
            <a:lvl7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7pPr>
            <a:lvl8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8pPr>
            <a:lvl9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r">
              <a:lnSpc>
                <a:spcPct val="113000"/>
              </a:lnSpc>
              <a:buNone/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rPr>
              <a:t>汇报结构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486D11E-D8E8-441D-965F-8B68E8478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6353175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defPPr>
            <a:lvl1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1pPr>
            <a:lvl2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2pPr>
            <a:lvl3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3pPr>
            <a:lvl4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4pPr>
            <a:lvl5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5pPr>
            <a:lvl6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6pPr>
            <a:lvl7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7pPr>
            <a:lvl8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8pPr>
            <a:lvl9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r">
              <a:lnSpc>
                <a:spcPct val="113000"/>
              </a:lnSpc>
              <a:buNone/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pPr>
            <a:r>
              <a: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57122D1-3BF3-46A2-9B97-A76044E2C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06175" y="6419850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rPr>
              <a:t>/ 11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7219601-88E8-4DB2-9658-7B42CDB2E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47850"/>
            <a:ext cx="1066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675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sz="3675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sz="3675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sz="3675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sz="3675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sz="3675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sz="3675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sz="3675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sz="3675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sz="3675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3675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pPr>
            <a:r>
              <a:rPr sz="3675" b="0">
                <a:solidFill>
                  <a:srgbClr val="47776F"/>
                </a:solidFill>
                <a:latin typeface="Avenir Next"/>
                <a:ea typeface="Avenir Next"/>
                <a:cs typeface="Avenir Next"/>
              </a:rPr>
              <a:t>01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4651699-253A-4F68-B23A-223B48801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9775" y="188595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475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2475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2475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2475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2475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2475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2475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2475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2475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2475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475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pPr>
            <a:r>
              <a:rPr sz="2475" b="1">
                <a:solidFill>
                  <a:srgbClr val="47776F"/>
                </a:solidFill>
                <a:latin typeface="PingFang SC"/>
                <a:ea typeface="PingFang SC"/>
                <a:cs typeface="PingFang SC"/>
              </a:rPr>
              <a:t>功能与使用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7522F46-C8A1-450D-AE76-4A4C1352F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8825" y="2438400"/>
            <a:ext cx="819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8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8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8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8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8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8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8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8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8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6F807D"/>
                </a:solidFill>
                <a:latin typeface="PingFang SC"/>
                <a:ea typeface="PingFang SC"/>
                <a:cs typeface="PingFang SC"/>
              </a:rPr>
              <a:t>备份、验证、恢复与自动任务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BA28EA2-538C-4F9A-B55E-B12104764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8211" y="2185591"/>
            <a:ext cx="399653" cy="304998"/>
          </a:xfrm>
          <a:prstGeom xmlns:a="http://schemas.openxmlformats.org/drawingml/2006/main" prst="roundRect">
            <a:avLst>
              <a:gd name="adj" fmla="val 24984"/>
            </a:avLst>
          </a:prstGeom>
          <a:noFill xmlns:a="http://schemas.openxmlformats.org/drawingml/2006/main"/>
          <a:ln xmlns:a="http://schemas.openxmlformats.org/drawingml/2006/main" w="24190">
            <a:solidFill>
              <a:srgbClr val="47776F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D5CB6F6-C519-4FE8-8098-716473070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8211" y="2122488"/>
            <a:ext cx="953" cy="63103"/>
          </a:xfrm>
          <a:custGeom xmlns:a="http://schemas.openxmlformats.org/drawingml/2006/main">
            <a:pathLst>
              <a:path w="953" h="63103">
                <a:moveTo>
                  <a:pt x="0" y="63103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190">
            <a:solidFill>
              <a:srgbClr val="47776F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077CE7B-438E-4A84-93C5-850C268BB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8211" y="2122488"/>
            <a:ext cx="168275" cy="953"/>
          </a:xfrm>
          <a:custGeom xmlns:a="http://schemas.openxmlformats.org/drawingml/2006/main">
            <a:pathLst>
              <a:path w="168275" h="953">
                <a:moveTo>
                  <a:pt x="0" y="0"/>
                </a:moveTo>
                <a:lnTo>
                  <a:pt x="1682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190">
            <a:solidFill>
              <a:srgbClr val="47776F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A70618B-9FD8-457F-8604-61E846E53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6486" y="2122488"/>
            <a:ext cx="63103" cy="63103"/>
          </a:xfrm>
          <a:custGeom xmlns:a="http://schemas.openxmlformats.org/drawingml/2006/main">
            <a:pathLst>
              <a:path w="63103" h="63103">
                <a:moveTo>
                  <a:pt x="0" y="0"/>
                </a:moveTo>
                <a:lnTo>
                  <a:pt x="63103" y="63103"/>
                </a:lnTo>
              </a:path>
            </a:pathLst>
          </a:custGeom>
          <a:noFill xmlns:a="http://schemas.openxmlformats.org/drawingml/2006/main"/>
          <a:ln xmlns:a="http://schemas.openxmlformats.org/drawingml/2006/main" w="24190">
            <a:solidFill>
              <a:srgbClr val="47776F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6462100-9DB0-4642-9427-4A7C40008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9775" y="2962275"/>
            <a:ext cx="9277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4DDD7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050ED5C-6E14-4F4F-84A1-0C04759F7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228975"/>
            <a:ext cx="1066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675" b="0">
                <a:solidFill>
                  <a:srgbClr val="B96C43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sz="3675" b="0">
                <a:solidFill>
                  <a:srgbClr val="B96C43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sz="3675" b="0">
                <a:solidFill>
                  <a:srgbClr val="B96C43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sz="3675" b="0">
                <a:solidFill>
                  <a:srgbClr val="B96C43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sz="3675" b="0">
                <a:solidFill>
                  <a:srgbClr val="B96C43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sz="3675" b="0">
                <a:solidFill>
                  <a:srgbClr val="B96C43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sz="3675" b="0">
                <a:solidFill>
                  <a:srgbClr val="B96C43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sz="3675" b="0">
                <a:solidFill>
                  <a:srgbClr val="B96C43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sz="3675" b="0">
                <a:solidFill>
                  <a:srgbClr val="B96C43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sz="3675" b="0">
                <a:solidFill>
                  <a:srgbClr val="B96C43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3675" b="0">
                <a:solidFill>
                  <a:srgbClr val="B96C43"/>
                </a:solidFill>
                <a:latin typeface="Avenir Next"/>
                <a:ea typeface="Avenir Next"/>
                <a:cs typeface="Avenir Next"/>
              </a:defRPr>
            </a:pPr>
            <a:r>
              <a:rPr sz="3675" b="0">
                <a:solidFill>
                  <a:srgbClr val="B96C43"/>
                </a:solidFill>
                <a:latin typeface="Avenir Next"/>
                <a:ea typeface="Avenir Next"/>
                <a:cs typeface="Avenir Next"/>
              </a:rPr>
              <a:t>02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F9292F0-7D26-4E06-A551-1C7E0F414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9775" y="3267075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475" b="1">
                <a:solidFill>
                  <a:srgbClr val="B96C43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2475" b="1">
                <a:solidFill>
                  <a:srgbClr val="B96C43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2475" b="1">
                <a:solidFill>
                  <a:srgbClr val="B96C43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2475" b="1">
                <a:solidFill>
                  <a:srgbClr val="B96C43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2475" b="1">
                <a:solidFill>
                  <a:srgbClr val="B96C43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2475" b="1">
                <a:solidFill>
                  <a:srgbClr val="B96C43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2475" b="1">
                <a:solidFill>
                  <a:srgbClr val="B96C43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2475" b="1">
                <a:solidFill>
                  <a:srgbClr val="B96C43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2475" b="1">
                <a:solidFill>
                  <a:srgbClr val="B96C43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2475" b="1">
                <a:solidFill>
                  <a:srgbClr val="B96C43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475" b="1">
                <a:solidFill>
                  <a:srgbClr val="B96C43"/>
                </a:solidFill>
                <a:latin typeface="PingFang SC"/>
                <a:ea typeface="PingFang SC"/>
                <a:cs typeface="PingFang SC"/>
              </a:defRPr>
            </a:pPr>
            <a:r>
              <a:rPr sz="2475" b="1">
                <a:solidFill>
                  <a:srgbClr val="B96C43"/>
                </a:solidFill>
                <a:latin typeface="PingFang SC"/>
                <a:ea typeface="PingFang SC"/>
                <a:cs typeface="PingFang SC"/>
              </a:rPr>
              <a:t>设计与实现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71129C5-B3D9-4A15-9933-569C649B3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8825" y="3819525"/>
            <a:ext cx="819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8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8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8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8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8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8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8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8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8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6F807D"/>
                </a:solidFill>
                <a:latin typeface="PingFang SC"/>
                <a:ea typeface="PingFang SC"/>
                <a:cs typeface="PingFang SC"/>
              </a:rPr>
              <a:t>共享核心、归档算法与安全恢复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D99A751-CD40-4CA6-934D-CE08DA3F1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4417" y="3451027"/>
            <a:ext cx="147241" cy="1262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24190">
            <a:solidFill>
              <a:srgbClr val="B96C43"/>
            </a:solidFill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0FC0EDF-1F2F-4703-B7EA-11C04D528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7177" y="3777059"/>
            <a:ext cx="147241" cy="1156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24190">
            <a:solidFill>
              <a:srgbClr val="B96C43"/>
            </a:solidFill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94FA4F3-D48D-44CF-A5FE-EAB4CAD00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1658" y="3777059"/>
            <a:ext cx="147241" cy="1156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24190">
            <a:solidFill>
              <a:srgbClr val="B96C43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3BC6B7B-D560-4013-B0F8-5444D56FA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68038" y="3577233"/>
            <a:ext cx="953" cy="115689"/>
          </a:xfrm>
          <a:custGeom xmlns:a="http://schemas.openxmlformats.org/drawingml/2006/main">
            <a:pathLst>
              <a:path w="953" h="115689">
                <a:moveTo>
                  <a:pt x="0" y="0"/>
                </a:moveTo>
                <a:lnTo>
                  <a:pt x="0" y="115689"/>
                </a:lnTo>
              </a:path>
            </a:pathLst>
          </a:custGeom>
          <a:noFill xmlns:a="http://schemas.openxmlformats.org/drawingml/2006/main"/>
          <a:ln xmlns:a="http://schemas.openxmlformats.org/drawingml/2006/main" w="24190">
            <a:solidFill>
              <a:srgbClr val="B96C43"/>
            </a:solidFill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6FDEF0A-7957-4774-834A-072052778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797" y="3692922"/>
            <a:ext cx="294481" cy="953"/>
          </a:xfrm>
          <a:custGeom xmlns:a="http://schemas.openxmlformats.org/drawingml/2006/main">
            <a:pathLst>
              <a:path w="294481" h="953">
                <a:moveTo>
                  <a:pt x="0" y="0"/>
                </a:moveTo>
                <a:lnTo>
                  <a:pt x="294481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190">
            <a:solidFill>
              <a:srgbClr val="B96C43"/>
            </a:solidFill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C35F6B5-5F89-403F-9AE6-1C4B9C1AC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797" y="3692922"/>
            <a:ext cx="953" cy="84138"/>
          </a:xfrm>
          <a:custGeom xmlns:a="http://schemas.openxmlformats.org/drawingml/2006/main">
            <a:pathLst>
              <a:path w="953" h="84138">
                <a:moveTo>
                  <a:pt x="0" y="0"/>
                </a:moveTo>
                <a:lnTo>
                  <a:pt x="0" y="84138"/>
                </a:lnTo>
              </a:path>
            </a:pathLst>
          </a:custGeom>
          <a:noFill xmlns:a="http://schemas.openxmlformats.org/drawingml/2006/main"/>
          <a:ln xmlns:a="http://schemas.openxmlformats.org/drawingml/2006/main" w="24190">
            <a:solidFill>
              <a:srgbClr val="B96C43"/>
            </a:solidFill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D6A939A-10B6-480A-84DA-6C023C00B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278" y="3692922"/>
            <a:ext cx="953" cy="84138"/>
          </a:xfrm>
          <a:custGeom xmlns:a="http://schemas.openxmlformats.org/drawingml/2006/main">
            <a:pathLst>
              <a:path w="953" h="84138">
                <a:moveTo>
                  <a:pt x="0" y="0"/>
                </a:moveTo>
                <a:lnTo>
                  <a:pt x="0" y="84138"/>
                </a:lnTo>
              </a:path>
            </a:pathLst>
          </a:custGeom>
          <a:noFill xmlns:a="http://schemas.openxmlformats.org/drawingml/2006/main"/>
          <a:ln xmlns:a="http://schemas.openxmlformats.org/drawingml/2006/main" w="24190">
            <a:solidFill>
              <a:srgbClr val="B96C43"/>
            </a:solidFill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0B37321-EBC5-4D3A-A3E6-3FB2017F7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9775" y="4343400"/>
            <a:ext cx="9277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4DDD7"/>
            </a:solidFill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699D907-D8D4-46D2-B6F0-1578FA337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610100"/>
            <a:ext cx="1066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675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sz="3675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sz="3675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sz="3675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sz="3675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sz="3675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sz="3675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sz="3675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sz="3675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sz="3675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3675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pPr>
            <a:r>
              <a:rPr sz="3675" b="0">
                <a:solidFill>
                  <a:srgbClr val="47776F"/>
                </a:solidFill>
                <a:latin typeface="Avenir Next"/>
                <a:ea typeface="Avenir Next"/>
                <a:cs typeface="Avenir Next"/>
              </a:rPr>
              <a:t>03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67E71DA-E435-4A8E-988A-318708A17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9775" y="46482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475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2475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2475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2475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2475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2475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2475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2475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2475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2475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475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pPr>
            <a:r>
              <a:rPr sz="2475" b="1">
                <a:solidFill>
                  <a:srgbClr val="47776F"/>
                </a:solidFill>
                <a:latin typeface="PingFang SC"/>
                <a:ea typeface="PingFang SC"/>
                <a:cs typeface="PingFang SC"/>
              </a:rPr>
              <a:t>验证与协作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18BD571-EE5E-489A-849B-09648F592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8825" y="5200650"/>
            <a:ext cx="819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8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8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8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8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8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8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8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8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8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6F807D"/>
                </a:solidFill>
                <a:latin typeface="PingFang SC"/>
                <a:ea typeface="PingFang SC"/>
                <a:cs typeface="PingFang SC"/>
              </a:rPr>
              <a:t>分层测试、职责分工与版本演进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E75C1B7-E765-4CEA-AFF6-9F8D4DEC4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57694" y="4842669"/>
            <a:ext cx="420688" cy="420688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4190">
            <a:solidFill>
              <a:srgbClr val="47776F"/>
            </a:solidFill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DA928AD-48FD-4D68-A453-2E2783296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2348" y="5053013"/>
            <a:ext cx="84138" cy="84138"/>
          </a:xfrm>
          <a:custGeom xmlns:a="http://schemas.openxmlformats.org/drawingml/2006/main">
            <a:pathLst>
              <a:path w="84138" h="84138">
                <a:moveTo>
                  <a:pt x="0" y="0"/>
                </a:moveTo>
                <a:lnTo>
                  <a:pt x="84138" y="84138"/>
                </a:lnTo>
              </a:path>
            </a:pathLst>
          </a:custGeom>
          <a:noFill xmlns:a="http://schemas.openxmlformats.org/drawingml/2006/main"/>
          <a:ln xmlns:a="http://schemas.openxmlformats.org/drawingml/2006/main" w="24190">
            <a:solidFill>
              <a:srgbClr val="47776F"/>
            </a:solidFill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7C16EE2-9826-4309-82CE-770872D5E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6486" y="4968875"/>
            <a:ext cx="147241" cy="168275"/>
          </a:xfrm>
          <a:custGeom xmlns:a="http://schemas.openxmlformats.org/drawingml/2006/main">
            <a:pathLst>
              <a:path w="147241" h="168275">
                <a:moveTo>
                  <a:pt x="0" y="168275"/>
                </a:moveTo>
                <a:lnTo>
                  <a:pt x="147241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190">
            <a:solidFill>
              <a:srgbClr val="47776F"/>
            </a:solidFill>
          </a:ln>
        </p:spPr>
      </p:sp>
    </p:spTree>
    <p:extLst>
      <p:ext uri="{BB962C8B-B14F-4D97-AF65-F5344CB8AC3E}">
        <p14:creationId xmlns:p14="http://schemas.microsoft.com/office/powerpoint/2010/main" val="100015182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9F0CB77-BEA3-4A66-BA29-0397CDF34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0"/>
            <a:ext cx="2381250" cy="1762125"/>
          </a:xfrm>
          <a:custGeom xmlns:a="http://schemas.openxmlformats.org/drawingml/2006/main">
            <a:pathLst>
              <a:path w="2381250" h="1762125">
                <a:moveTo>
                  <a:pt x="0" y="0"/>
                </a:moveTo>
                <a:cubicBezTo>
                  <a:pt x="190500" y="809625"/>
                  <a:pt x="952500" y="762000"/>
                  <a:pt x="2286000" y="1666875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E1E7DE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3379486-59CE-4825-8934-9479ADF31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0"/>
            <a:ext cx="2228850" cy="1885950"/>
          </a:xfrm>
          <a:custGeom xmlns:a="http://schemas.openxmlformats.org/drawingml/2006/main">
            <a:pathLst>
              <a:path w="2228850" h="1885950">
                <a:moveTo>
                  <a:pt x="0" y="0"/>
                </a:moveTo>
                <a:cubicBezTo>
                  <a:pt x="190500" y="866775"/>
                  <a:pt x="933450" y="857250"/>
                  <a:pt x="2133600" y="1790700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E1E7DE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762814-EB4E-4DA5-9AA0-172A2F1AC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0"/>
            <a:ext cx="2076450" cy="2009775"/>
          </a:xfrm>
          <a:custGeom xmlns:a="http://schemas.openxmlformats.org/drawingml/2006/main">
            <a:pathLst>
              <a:path w="2076450" h="2009775">
                <a:moveTo>
                  <a:pt x="0" y="0"/>
                </a:moveTo>
                <a:cubicBezTo>
                  <a:pt x="190500" y="923925"/>
                  <a:pt x="914400" y="952500"/>
                  <a:pt x="1981200" y="1914525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E1E7DE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19628B-2AFE-4749-A658-53F31E854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0"/>
            <a:ext cx="1924050" cy="2133600"/>
          </a:xfrm>
          <a:custGeom xmlns:a="http://schemas.openxmlformats.org/drawingml/2006/main">
            <a:pathLst>
              <a:path w="1924050" h="2133600">
                <a:moveTo>
                  <a:pt x="0" y="0"/>
                </a:moveTo>
                <a:cubicBezTo>
                  <a:pt x="190500" y="981075"/>
                  <a:pt x="895350" y="1047750"/>
                  <a:pt x="1828800" y="2038350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E1E7DE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8651D6-FD24-423C-9A5B-58D18B958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0"/>
            <a:ext cx="1771650" cy="2257425"/>
          </a:xfrm>
          <a:custGeom xmlns:a="http://schemas.openxmlformats.org/drawingml/2006/main">
            <a:pathLst>
              <a:path w="1771650" h="2257425">
                <a:moveTo>
                  <a:pt x="0" y="0"/>
                </a:moveTo>
                <a:cubicBezTo>
                  <a:pt x="190500" y="1038225"/>
                  <a:pt x="876300" y="1143000"/>
                  <a:pt x="1676400" y="2162175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E1E7DE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24EA007-E4D7-4B1C-91D6-810AEB52A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0"/>
            <a:ext cx="1619250" cy="2381250"/>
          </a:xfrm>
          <a:custGeom xmlns:a="http://schemas.openxmlformats.org/drawingml/2006/main">
            <a:pathLst>
              <a:path w="1619250" h="2381250">
                <a:moveTo>
                  <a:pt x="0" y="0"/>
                </a:moveTo>
                <a:cubicBezTo>
                  <a:pt x="190500" y="1095375"/>
                  <a:pt x="857250" y="1238250"/>
                  <a:pt x="1524000" y="2286000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E1E7DE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82AC30-16AF-489B-BF69-D855DC2AC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87050" y="0"/>
            <a:ext cx="1466850" cy="2505075"/>
          </a:xfrm>
          <a:custGeom xmlns:a="http://schemas.openxmlformats.org/drawingml/2006/main">
            <a:pathLst>
              <a:path w="1466850" h="2505075">
                <a:moveTo>
                  <a:pt x="0" y="0"/>
                </a:moveTo>
                <a:cubicBezTo>
                  <a:pt x="190500" y="1152525"/>
                  <a:pt x="838200" y="1333500"/>
                  <a:pt x="1371600" y="2409825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E1E7DE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C0AABD-CF24-4235-88FC-A6C8DFD02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89A62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99169A-4727-40A3-8719-E47CED8FF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7675"/>
            <a:ext cx="10287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pPr>
            <a:r>
              <a: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rPr>
              <a:t>本地目录的备份与恢复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B71E25C-C0D4-4056-A9A5-EAAA352DA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00150"/>
            <a:ext cx="11010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4DDD7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D561773-ED5F-41C4-8C48-D4FAB040E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00150"/>
            <a:ext cx="5429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B89A62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9A686F-09CD-4469-A368-49B01902C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71450"/>
            <a:ext cx="37814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defPPr>
            <a:lvl1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1pPr>
            <a:lvl2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2pPr>
            <a:lvl3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3pPr>
            <a:lvl4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4pPr>
            <a:lvl5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5pPr>
            <a:lvl6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6pPr>
            <a:lvl7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7pPr>
            <a:lvl8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8pPr>
            <a:lvl9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r">
              <a:lnSpc>
                <a:spcPct val="113000"/>
              </a:lnSpc>
              <a:buNone/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rPr>
              <a:t>01  功能与使用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4B8F79F-832D-471A-A7CC-9E1975EB1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6353175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defPPr>
            <a:lvl1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1pPr>
            <a:lvl2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2pPr>
            <a:lvl3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3pPr>
            <a:lvl4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4pPr>
            <a:lvl5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5pPr>
            <a:lvl6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6pPr>
            <a:lvl7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7pPr>
            <a:lvl8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8pPr>
            <a:lvl9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r">
              <a:lnSpc>
                <a:spcPct val="113000"/>
              </a:lnSpc>
              <a:buNone/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pPr>
            <a:r>
              <a: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7AF66DD-D621-4170-ADAB-57E7B1D8F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06175" y="6419850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rPr>
              <a:t>/ 11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15A43D4-C0FF-4036-BEC6-47652951F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469" y="1814513"/>
            <a:ext cx="241697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169">
            <a:solidFill>
              <a:srgbClr val="47776F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2A7EECE-25B4-459C-BBF0-A7654CF28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809" y="1906191"/>
            <a:ext cx="116681" cy="953"/>
          </a:xfrm>
          <a:custGeom xmlns:a="http://schemas.openxmlformats.org/drawingml/2006/main">
            <a:pathLst>
              <a:path w="116681" h="953">
                <a:moveTo>
                  <a:pt x="0" y="0"/>
                </a:moveTo>
                <a:lnTo>
                  <a:pt x="116681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169">
            <a:solidFill>
              <a:srgbClr val="47776F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EE279DC-2ED7-41A2-8B7F-3F9DA8C8A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809" y="1972866"/>
            <a:ext cx="116681" cy="953"/>
          </a:xfrm>
          <a:custGeom xmlns:a="http://schemas.openxmlformats.org/drawingml/2006/main">
            <a:pathLst>
              <a:path w="116681" h="953">
                <a:moveTo>
                  <a:pt x="0" y="0"/>
                </a:moveTo>
                <a:lnTo>
                  <a:pt x="116681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169">
            <a:solidFill>
              <a:srgbClr val="47776F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4323EF5-9172-45AC-8806-CC37579ED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809" y="2039541"/>
            <a:ext cx="75009" cy="953"/>
          </a:xfrm>
          <a:custGeom xmlns:a="http://schemas.openxmlformats.org/drawingml/2006/main">
            <a:pathLst>
              <a:path w="75009" h="953">
                <a:moveTo>
                  <a:pt x="0" y="0"/>
                </a:moveTo>
                <a:lnTo>
                  <a:pt x="75009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169">
            <a:solidFill>
              <a:srgbClr val="47776F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09A2660-95FE-4254-B843-2B551088B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1762125"/>
            <a:ext cx="3714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rPr>
              <a:t>保留文件结构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D5A4B4C-9477-4849-B3F3-FCD139F22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228850"/>
            <a:ext cx="36861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rPr>
              <a:t>文件、空目录、软硬链接与 FIFO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CB3D950-670C-4C40-BFB1-B49BD6D27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472" y="3089672"/>
            <a:ext cx="241697" cy="200025"/>
          </a:xfrm>
          <a:prstGeom xmlns:a="http://schemas.openxmlformats.org/drawingml/2006/main" prst="roundRect">
            <a:avLst>
              <a:gd name="adj" fmla="val 38095"/>
            </a:avLst>
          </a:prstGeom>
          <a:noFill xmlns:a="http://schemas.openxmlformats.org/drawingml/2006/main"/>
          <a:ln xmlns:a="http://schemas.openxmlformats.org/drawingml/2006/main" w="19169">
            <a:solidFill>
              <a:srgbClr val="B96C43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22A7031-45B8-4BDC-94F5-7D0C9A7A4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131" y="3181350"/>
            <a:ext cx="241697" cy="208359"/>
          </a:xfrm>
          <a:prstGeom xmlns:a="http://schemas.openxmlformats.org/drawingml/2006/main" prst="roundRect">
            <a:avLst>
              <a:gd name="adj" fmla="val 36571"/>
            </a:avLst>
          </a:prstGeom>
          <a:noFill xmlns:a="http://schemas.openxmlformats.org/drawingml/2006/main"/>
          <a:ln xmlns:a="http://schemas.openxmlformats.org/drawingml/2006/main" w="19169">
            <a:solidFill>
              <a:srgbClr val="B96C43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0F2B920-5ACE-417C-AC8F-83F693AEE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028950"/>
            <a:ext cx="3714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rPr>
              <a:t>组合筛选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232E1F9-F0B9-41C4-BD85-2F33E1331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495675"/>
            <a:ext cx="36861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rPr>
              <a:t>路径、类型、名称、时间、大小、UID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14CC468-FE4C-4F21-AECD-BC150360E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469" y="4489847"/>
            <a:ext cx="233363" cy="183356"/>
          </a:xfrm>
          <a:prstGeom xmlns:a="http://schemas.openxmlformats.org/drawingml/2006/main" prst="roundRect">
            <a:avLst>
              <a:gd name="adj" fmla="val 41558"/>
            </a:avLst>
          </a:prstGeom>
          <a:noFill xmlns:a="http://schemas.openxmlformats.org/drawingml/2006/main"/>
          <a:ln xmlns:a="http://schemas.openxmlformats.org/drawingml/2006/main" w="19169">
            <a:solidFill>
              <a:srgbClr val="47776F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CC18C92-D84B-4FAF-825A-116FAAD9F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4364831"/>
            <a:ext cx="133350" cy="175022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19169">
            <a:solidFill>
              <a:srgbClr val="47776F"/>
            </a:solidFill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EA1BCAC-2A74-43A7-806F-0B67FE594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556522"/>
            <a:ext cx="953" cy="50006"/>
          </a:xfrm>
          <a:custGeom xmlns:a="http://schemas.openxmlformats.org/drawingml/2006/main">
            <a:pathLst>
              <a:path w="953" h="50006">
                <a:moveTo>
                  <a:pt x="0" y="0"/>
                </a:moveTo>
                <a:lnTo>
                  <a:pt x="0" y="50006"/>
                </a:lnTo>
              </a:path>
            </a:pathLst>
          </a:custGeom>
          <a:noFill xmlns:a="http://schemas.openxmlformats.org/drawingml/2006/main"/>
          <a:ln xmlns:a="http://schemas.openxmlformats.org/drawingml/2006/main" w="19169">
            <a:solidFill>
              <a:srgbClr val="47776F"/>
            </a:solidFill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B33E983-5D49-47A5-A3B6-0F583BAFE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295775"/>
            <a:ext cx="3714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rPr>
              <a:t>压缩与密码保护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39FC52D-E2A4-4CE6-A829-0ECB3D9F7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762500"/>
            <a:ext cx="36861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rPr>
              <a:t>分块压缩，备份文件独立验证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1E98DE4-DDA3-43EC-9F2B-950221388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1676400"/>
            <a:ext cx="6248400" cy="4295775"/>
          </a:xfrm>
          <a:prstGeom xmlns:a="http://schemas.openxmlformats.org/drawingml/2006/main" prst="roundRect">
            <a:avLst>
              <a:gd name="adj" fmla="val 17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7"/>
            </a:solidFill>
          </a:ln>
        </p:spPr>
      </p:sp>
      <p:pic>
        <p:nvPic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DF13749-9E49-44E3-B126-C3F0A98C477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cf58ec730c4f83"/>
          <a:stretch xmlns:a="http://schemas.openxmlformats.org/drawingml/2006/main"/>
        </p:blipFill>
        <p:spPr>
          <a:xfrm xmlns:a="http://schemas.openxmlformats.org/drawingml/2006/main">
            <a:off x="5766421" y="1781175"/>
            <a:ext cx="5269258" cy="3990975"/>
          </a:xfrm>
          <a:prstGeom xmlns:a="http://schemas.openxmlformats.org/drawingml/2006/main" prst="rect">
            <a:avLst/>
          </a:prstGeom>
        </p:spPr>
      </p:pic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978DB98-7DDB-4D27-9E72-73146338D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857875"/>
            <a:ext cx="14287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65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65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65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65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65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65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65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65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65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65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65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47776F"/>
                </a:solidFill>
                <a:latin typeface="PingFang SC"/>
                <a:ea typeface="PingFang SC"/>
                <a:cs typeface="PingFang SC"/>
              </a:rPr>
              <a:t>源目录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8765269-3EFB-4C08-BD06-F8B1D60A8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9775" y="6019800"/>
            <a:ext cx="2952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89A62"/>
            </a:solidFill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5B3467A-0AAF-4BD3-99BC-FB81BA266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5857875"/>
            <a:ext cx="14287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65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65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65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65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65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65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65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65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65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65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65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47776F"/>
                </a:solidFill>
                <a:latin typeface="PingFang SC"/>
                <a:ea typeface="PingFang SC"/>
                <a:cs typeface="PingFang SC"/>
              </a:rPr>
              <a:t>备份文件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4997EF8-6790-4981-BE3E-1D3B96BD1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6019800"/>
            <a:ext cx="2952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89A62"/>
            </a:solidFill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FEA3BDA-FACE-40F0-BA81-27306EA71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0975" y="5857875"/>
            <a:ext cx="14287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65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65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65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65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65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65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65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65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65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65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65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47776F"/>
                </a:solidFill>
                <a:latin typeface="PingFang SC"/>
                <a:ea typeface="PingFang SC"/>
                <a:cs typeface="PingFang SC"/>
              </a:rPr>
              <a:t>恢复目录</a:t>
            </a:r>
          </a:p>
        </p:txBody>
      </p:sp>
    </p:spTree>
    <p:extLst>
      <p:ext uri="{BB962C8B-B14F-4D97-AF65-F5344CB8AC3E}">
        <p14:creationId xmlns:p14="http://schemas.microsoft.com/office/powerpoint/2010/main" val="116073120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F22CE0F-12AB-44E5-A643-B080C58E4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0"/>
            <a:ext cx="2381250" cy="1762125"/>
          </a:xfrm>
          <a:custGeom xmlns:a="http://schemas.openxmlformats.org/drawingml/2006/main">
            <a:pathLst>
              <a:path w="2381250" h="1762125">
                <a:moveTo>
                  <a:pt x="0" y="0"/>
                </a:moveTo>
                <a:cubicBezTo>
                  <a:pt x="190500" y="809625"/>
                  <a:pt x="952500" y="762000"/>
                  <a:pt x="2286000" y="1666875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E1E7DE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AD91B2-9AEA-489B-884F-3292647C7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0"/>
            <a:ext cx="2228850" cy="1885950"/>
          </a:xfrm>
          <a:custGeom xmlns:a="http://schemas.openxmlformats.org/drawingml/2006/main">
            <a:pathLst>
              <a:path w="2228850" h="1885950">
                <a:moveTo>
                  <a:pt x="0" y="0"/>
                </a:moveTo>
                <a:cubicBezTo>
                  <a:pt x="190500" y="866775"/>
                  <a:pt x="933450" y="857250"/>
                  <a:pt x="2133600" y="1790700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E1E7DE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7035EE-E9E1-4352-AFBD-355ED8028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0"/>
            <a:ext cx="2076450" cy="2009775"/>
          </a:xfrm>
          <a:custGeom xmlns:a="http://schemas.openxmlformats.org/drawingml/2006/main">
            <a:pathLst>
              <a:path w="2076450" h="2009775">
                <a:moveTo>
                  <a:pt x="0" y="0"/>
                </a:moveTo>
                <a:cubicBezTo>
                  <a:pt x="190500" y="923925"/>
                  <a:pt x="914400" y="952500"/>
                  <a:pt x="1981200" y="1914525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E1E7DE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71D3B5-F492-4733-A197-C2E68F880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0"/>
            <a:ext cx="1924050" cy="2133600"/>
          </a:xfrm>
          <a:custGeom xmlns:a="http://schemas.openxmlformats.org/drawingml/2006/main">
            <a:pathLst>
              <a:path w="1924050" h="2133600">
                <a:moveTo>
                  <a:pt x="0" y="0"/>
                </a:moveTo>
                <a:cubicBezTo>
                  <a:pt x="190500" y="981075"/>
                  <a:pt x="895350" y="1047750"/>
                  <a:pt x="1828800" y="2038350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E1E7DE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83EDE2F-F2D9-4D56-9440-7FE29D7ED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0"/>
            <a:ext cx="1771650" cy="2257425"/>
          </a:xfrm>
          <a:custGeom xmlns:a="http://schemas.openxmlformats.org/drawingml/2006/main">
            <a:pathLst>
              <a:path w="1771650" h="2257425">
                <a:moveTo>
                  <a:pt x="0" y="0"/>
                </a:moveTo>
                <a:cubicBezTo>
                  <a:pt x="190500" y="1038225"/>
                  <a:pt x="876300" y="1143000"/>
                  <a:pt x="1676400" y="2162175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E1E7DE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8CC02F-EA30-425E-9AE7-8DF61A49F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0"/>
            <a:ext cx="1619250" cy="2381250"/>
          </a:xfrm>
          <a:custGeom xmlns:a="http://schemas.openxmlformats.org/drawingml/2006/main">
            <a:pathLst>
              <a:path w="1619250" h="2381250">
                <a:moveTo>
                  <a:pt x="0" y="0"/>
                </a:moveTo>
                <a:cubicBezTo>
                  <a:pt x="190500" y="1095375"/>
                  <a:pt x="857250" y="1238250"/>
                  <a:pt x="1524000" y="2286000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E1E7DE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303E09B-B55C-4A8A-A956-B63C6A16D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87050" y="0"/>
            <a:ext cx="1466850" cy="2505075"/>
          </a:xfrm>
          <a:custGeom xmlns:a="http://schemas.openxmlformats.org/drawingml/2006/main">
            <a:pathLst>
              <a:path w="1466850" h="2505075">
                <a:moveTo>
                  <a:pt x="0" y="0"/>
                </a:moveTo>
                <a:cubicBezTo>
                  <a:pt x="190500" y="1152525"/>
                  <a:pt x="838200" y="1333500"/>
                  <a:pt x="1371600" y="2409825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E1E7DE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1CB7A2-AD5C-4C8E-9A34-2A0F9B044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89A62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35B368D-019D-4C8D-80C1-DBDB73333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7675"/>
            <a:ext cx="10287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pPr>
            <a:r>
              <a: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rPr>
              <a:t>自动任务与快照保留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7A4E83-34C9-4FAA-BEAB-097808C39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00150"/>
            <a:ext cx="11010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4DDD7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A7012B6-C838-45ED-BF89-245866B66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00150"/>
            <a:ext cx="5429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B89A62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4A2D234-AF10-43DC-ABBF-95AA720F0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71450"/>
            <a:ext cx="37814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defPPr>
            <a:lvl1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1pPr>
            <a:lvl2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2pPr>
            <a:lvl3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3pPr>
            <a:lvl4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4pPr>
            <a:lvl5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5pPr>
            <a:lvl6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6pPr>
            <a:lvl7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7pPr>
            <a:lvl8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8pPr>
            <a:lvl9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r">
              <a:lnSpc>
                <a:spcPct val="113000"/>
              </a:lnSpc>
              <a:buNone/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rPr>
              <a:t>01  功能与使用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4C83758-816F-4C73-AD4A-0287D59BB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6353175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defPPr>
            <a:lvl1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1pPr>
            <a:lvl2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2pPr>
            <a:lvl3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3pPr>
            <a:lvl4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4pPr>
            <a:lvl5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5pPr>
            <a:lvl6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6pPr>
            <a:lvl7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7pPr>
            <a:lvl8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8pPr>
            <a:lvl9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r">
              <a:lnSpc>
                <a:spcPct val="113000"/>
              </a:lnSpc>
              <a:buNone/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pPr>
            <a:r>
              <a: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rPr>
              <a:t>04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8E48056-4B18-4E64-88FD-9A213DC77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06175" y="6419850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rPr>
              <a:t>/ 11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F47E32A-8B2D-436F-9125-7B671E1E9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67" y="1782167"/>
            <a:ext cx="369491" cy="369491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2364">
            <a:solidFill>
              <a:srgbClr val="47776F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99B1E52-CA66-4E50-8F57-FFC3FEDEF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3" y="1850231"/>
            <a:ext cx="953" cy="116681"/>
          </a:xfrm>
          <a:custGeom xmlns:a="http://schemas.openxmlformats.org/drawingml/2006/main">
            <a:pathLst>
              <a:path w="953" h="116681">
                <a:moveTo>
                  <a:pt x="0" y="0"/>
                </a:moveTo>
                <a:lnTo>
                  <a:pt x="0" y="116681"/>
                </a:lnTo>
              </a:path>
            </a:pathLst>
          </a:custGeom>
          <a:noFill xmlns:a="http://schemas.openxmlformats.org/drawingml/2006/main"/>
          <a:ln xmlns:a="http://schemas.openxmlformats.org/drawingml/2006/main" w="22364">
            <a:solidFill>
              <a:srgbClr val="47776F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5EE6C73-3FC9-4D83-AF83-A3377C500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3" y="1966913"/>
            <a:ext cx="87511" cy="48617"/>
          </a:xfrm>
          <a:custGeom xmlns:a="http://schemas.openxmlformats.org/drawingml/2006/main">
            <a:pathLst>
              <a:path w="87511" h="48617">
                <a:moveTo>
                  <a:pt x="0" y="0"/>
                </a:moveTo>
                <a:lnTo>
                  <a:pt x="87511" y="48617"/>
                </a:lnTo>
              </a:path>
            </a:pathLst>
          </a:custGeom>
          <a:noFill xmlns:a="http://schemas.openxmlformats.org/drawingml/2006/main"/>
          <a:ln xmlns:a="http://schemas.openxmlformats.org/drawingml/2006/main" w="22364">
            <a:solidFill>
              <a:srgbClr val="47776F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5CA1628-CF1B-41D8-BDD3-457222AF5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1762125"/>
            <a:ext cx="4143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3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23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23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23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23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23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23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23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23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23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3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pPr>
            <a:r>
              <a:rPr sz="2325" b="1">
                <a:solidFill>
                  <a:srgbClr val="243A40"/>
                </a:solidFill>
                <a:latin typeface="PingFang SC"/>
                <a:ea typeface="PingFang SC"/>
                <a:cs typeface="PingFang SC"/>
              </a:rPr>
              <a:t>定时备份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AE46C9E-0594-4EA8-8EDC-4584AFCF9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314575"/>
            <a:ext cx="4286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8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8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8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8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8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8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8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8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8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6F807D"/>
                </a:solidFill>
                <a:latin typeface="PingFang SC"/>
                <a:ea typeface="PingFang SC"/>
                <a:cs typeface="PingFang SC"/>
              </a:rPr>
              <a:t>按设定间隔创建完整快照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05F9E65-320B-4E29-B30A-9B965F935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5805" y="1782167"/>
            <a:ext cx="281980" cy="233363"/>
          </a:xfrm>
          <a:prstGeom xmlns:a="http://schemas.openxmlformats.org/drawingml/2006/main" prst="roundRect">
            <a:avLst>
              <a:gd name="adj" fmla="val 32653"/>
            </a:avLst>
          </a:prstGeom>
          <a:noFill xmlns:a="http://schemas.openxmlformats.org/drawingml/2006/main"/>
          <a:ln xmlns:a="http://schemas.openxmlformats.org/drawingml/2006/main" w="22364">
            <a:solidFill>
              <a:srgbClr val="B96C43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AF66658-AEA1-4A45-A21A-B26CED9EE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7741" y="1889125"/>
            <a:ext cx="281980" cy="243086"/>
          </a:xfrm>
          <a:prstGeom xmlns:a="http://schemas.openxmlformats.org/drawingml/2006/main" prst="roundRect">
            <a:avLst>
              <a:gd name="adj" fmla="val 31347"/>
            </a:avLst>
          </a:prstGeom>
          <a:noFill xmlns:a="http://schemas.openxmlformats.org/drawingml/2006/main"/>
          <a:ln xmlns:a="http://schemas.openxmlformats.org/drawingml/2006/main" w="22364">
            <a:solidFill>
              <a:srgbClr val="B96C43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CB21C23-0782-4DC5-BF28-2CED0AD32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3775" y="1762125"/>
            <a:ext cx="4191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3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23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23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23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23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23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23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23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23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23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3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pPr>
            <a:r>
              <a:rPr sz="2325" b="1">
                <a:solidFill>
                  <a:srgbClr val="243A40"/>
                </a:solidFill>
                <a:latin typeface="PingFang SC"/>
                <a:ea typeface="PingFang SC"/>
                <a:cs typeface="PingFang SC"/>
              </a:rPr>
              <a:t>目录变化检测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3E699E1-72A7-4302-AA8D-C00C19B03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314575"/>
            <a:ext cx="42195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8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8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8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8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8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8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8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8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8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6F807D"/>
                </a:solidFill>
                <a:latin typeface="PingFang SC"/>
                <a:ea typeface="PingFang SC"/>
                <a:cs typeface="PingFang SC"/>
              </a:rPr>
              <a:t>轮询目录，变化稳定后再备份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5C614CC-6115-4321-B32A-17E7CAA49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1704975"/>
            <a:ext cx="0" cy="1181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4DDD7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E634EC2-E582-43C3-B4F2-6B48C5AB7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209925"/>
            <a:ext cx="1095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4DDD7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DE2A3A6-5099-4AE8-9179-4B21A8A43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571875"/>
            <a:ext cx="5143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40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240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240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240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240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240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240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240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240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240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40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pPr>
            <a:r>
              <a:rPr sz="2400" b="1">
                <a:solidFill>
                  <a:srgbClr val="47776F"/>
                </a:solidFill>
                <a:latin typeface="PingFang SC"/>
                <a:ea typeface="PingFang SC"/>
                <a:cs typeface="PingFang SC"/>
              </a:rPr>
              <a:t>保留最近 2 份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4AB7197-B6B3-43FF-8636-FA404F236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133850"/>
            <a:ext cx="5524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8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8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8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8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8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8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8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8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8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6F807D"/>
                </a:solidFill>
                <a:latin typeface="PingFang SC"/>
                <a:ea typeface="PingFang SC"/>
                <a:cs typeface="PingFang SC"/>
              </a:rPr>
              <a:t>每次启动使用独立任务目录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2649EEA-1665-4894-9730-9F7A99CD3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2713" y="3665934"/>
            <a:ext cx="400050" cy="462558"/>
          </a:xfrm>
          <a:prstGeom xmlns:a="http://schemas.openxmlformats.org/drawingml/2006/main" prst="roundRect">
            <a:avLst>
              <a:gd name="adj" fmla="val 19048"/>
            </a:avLst>
          </a:prstGeom>
          <a:noFill xmlns:a="http://schemas.openxmlformats.org/drawingml/2006/main"/>
          <a:ln xmlns:a="http://schemas.openxmlformats.org/drawingml/2006/main" w="28754">
            <a:solidFill>
              <a:srgbClr val="6F807D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B220E21-0930-46B0-B3B8-D11C17DBA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2706" y="3640931"/>
            <a:ext cx="500063" cy="1125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28754">
            <a:solidFill>
              <a:srgbClr val="6F807D"/>
            </a:solidFill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CC4F1BE-77D6-4444-BF89-C99B05A22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230" y="3890963"/>
            <a:ext cx="125016" cy="953"/>
          </a:xfrm>
          <a:custGeom xmlns:a="http://schemas.openxmlformats.org/drawingml/2006/main">
            <a:pathLst>
              <a:path w="125016" h="953">
                <a:moveTo>
                  <a:pt x="0" y="0"/>
                </a:moveTo>
                <a:lnTo>
                  <a:pt x="125016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754">
            <a:solidFill>
              <a:srgbClr val="6F807D"/>
            </a:solidFill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0E3501B-C533-4DA2-9582-0B8CA2111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230" y="3940969"/>
            <a:ext cx="125016" cy="953"/>
          </a:xfrm>
          <a:custGeom xmlns:a="http://schemas.openxmlformats.org/drawingml/2006/main">
            <a:pathLst>
              <a:path w="125016" h="953">
                <a:moveTo>
                  <a:pt x="0" y="0"/>
                </a:moveTo>
                <a:lnTo>
                  <a:pt x="125016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754">
            <a:solidFill>
              <a:srgbClr val="6F807D"/>
            </a:solidFill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F62DE4E-8AEE-401B-B5EA-2F5EF943A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362450"/>
            <a:ext cx="7810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1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sz="21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sz="21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sz="21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sz="21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sz="21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sz="21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sz="21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sz="21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sz="21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1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pPr>
            <a:r>
              <a:rPr sz="2175" b="0">
                <a:solidFill>
                  <a:srgbClr val="6F807D"/>
                </a:solidFill>
                <a:latin typeface="Avenir Next"/>
                <a:ea typeface="Avenir Next"/>
                <a:cs typeface="Avenir Next"/>
              </a:rPr>
              <a:t>01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3DF9A89-F3A0-4E6F-92A9-6A2F008EC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895850"/>
            <a:ext cx="1504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5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5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5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5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5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5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5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5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5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5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lnSpc>
                <a:spcPct val="113000"/>
              </a:lnSpc>
              <a:buNone/>
              <a:defRPr sz="15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6F807D"/>
                </a:solidFill>
                <a:latin typeface="PingFang SC"/>
                <a:ea typeface="PingFang SC"/>
                <a:cs typeface="PingFang SC"/>
              </a:rPr>
              <a:t>已淘汰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D1BEF0F-6F80-478C-97F4-F6FB39D42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905250"/>
            <a:ext cx="5429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4DDD7"/>
            </a:solidFill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0B4C5ED-7C62-4D6B-A50B-42841B024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5313" y="3665934"/>
            <a:ext cx="400050" cy="462558"/>
          </a:xfrm>
          <a:prstGeom xmlns:a="http://schemas.openxmlformats.org/drawingml/2006/main" prst="roundRect">
            <a:avLst>
              <a:gd name="adj" fmla="val 19048"/>
            </a:avLst>
          </a:prstGeom>
          <a:noFill xmlns:a="http://schemas.openxmlformats.org/drawingml/2006/main"/>
          <a:ln xmlns:a="http://schemas.openxmlformats.org/drawingml/2006/main" w="28754">
            <a:solidFill>
              <a:srgbClr val="47776F"/>
            </a:solidFill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5B82545-74DD-46CB-9051-717EEA35D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5306" y="3640931"/>
            <a:ext cx="500063" cy="1125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28754">
            <a:solidFill>
              <a:srgbClr val="47776F"/>
            </a:solidFill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33D686A-A5F6-4626-92CF-0C079980D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2830" y="3890963"/>
            <a:ext cx="125016" cy="953"/>
          </a:xfrm>
          <a:custGeom xmlns:a="http://schemas.openxmlformats.org/drawingml/2006/main">
            <a:pathLst>
              <a:path w="125016" h="953">
                <a:moveTo>
                  <a:pt x="0" y="0"/>
                </a:moveTo>
                <a:lnTo>
                  <a:pt x="125016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754">
            <a:solidFill>
              <a:srgbClr val="47776F"/>
            </a:solidFill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7D27B8B-7088-4C40-BB6C-74A7BD4AB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2830" y="3940969"/>
            <a:ext cx="125016" cy="953"/>
          </a:xfrm>
          <a:custGeom xmlns:a="http://schemas.openxmlformats.org/drawingml/2006/main">
            <a:pathLst>
              <a:path w="125016" h="953">
                <a:moveTo>
                  <a:pt x="0" y="0"/>
                </a:moveTo>
                <a:lnTo>
                  <a:pt x="125016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754">
            <a:solidFill>
              <a:srgbClr val="47776F"/>
            </a:solidFill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37AEC29-15B6-405F-93A5-38B6EEF77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362450"/>
            <a:ext cx="7810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175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sz="2175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sz="2175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sz="2175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sz="2175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sz="2175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sz="2175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sz="2175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sz="2175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sz="2175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175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pPr>
            <a:r>
              <a:rPr sz="2175" b="0">
                <a:solidFill>
                  <a:srgbClr val="47776F"/>
                </a:solidFill>
                <a:latin typeface="Avenir Next"/>
                <a:ea typeface="Avenir Next"/>
                <a:cs typeface="Avenir Next"/>
              </a:rPr>
              <a:t>02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099F4F0-9557-49EA-8BE0-2F7DD6576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895850"/>
            <a:ext cx="1504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575" b="0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575" b="0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575" b="0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575" b="0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575" b="0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575" b="0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575" b="0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575" b="0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575" b="0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575" b="0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lnSpc>
                <a:spcPct val="113000"/>
              </a:lnSpc>
              <a:buNone/>
              <a:defRPr sz="1575" b="0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47776F"/>
                </a:solidFill>
                <a:latin typeface="PingFang SC"/>
                <a:ea typeface="PingFang SC"/>
                <a:cs typeface="PingFang SC"/>
              </a:rPr>
              <a:t>保留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828C2D5-60A1-4A73-B6FB-DF4B42681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905250"/>
            <a:ext cx="5429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4DDD7"/>
            </a:solidFill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F6E6291-D435-4C39-A32E-D78160EA2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7913" y="3665934"/>
            <a:ext cx="400050" cy="462558"/>
          </a:xfrm>
          <a:prstGeom xmlns:a="http://schemas.openxmlformats.org/drawingml/2006/main" prst="roundRect">
            <a:avLst>
              <a:gd name="adj" fmla="val 19048"/>
            </a:avLst>
          </a:prstGeom>
          <a:noFill xmlns:a="http://schemas.openxmlformats.org/drawingml/2006/main"/>
          <a:ln xmlns:a="http://schemas.openxmlformats.org/drawingml/2006/main" w="28754">
            <a:solidFill>
              <a:srgbClr val="B96C43"/>
            </a:solidFill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172535E-1C9B-4479-BCD7-CABF394D4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7906" y="3640931"/>
            <a:ext cx="500063" cy="1125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28754">
            <a:solidFill>
              <a:srgbClr val="B96C43"/>
            </a:solidFill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AD99075-9B2E-4E8E-B957-2108E97C0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5430" y="3890963"/>
            <a:ext cx="125016" cy="953"/>
          </a:xfrm>
          <a:custGeom xmlns:a="http://schemas.openxmlformats.org/drawingml/2006/main">
            <a:pathLst>
              <a:path w="125016" h="953">
                <a:moveTo>
                  <a:pt x="0" y="0"/>
                </a:moveTo>
                <a:lnTo>
                  <a:pt x="125016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754">
            <a:solidFill>
              <a:srgbClr val="B96C43"/>
            </a:solidFill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8955F1F-7647-435F-8336-A3CCA4C47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5430" y="3940969"/>
            <a:ext cx="125016" cy="953"/>
          </a:xfrm>
          <a:custGeom xmlns:a="http://schemas.openxmlformats.org/drawingml/2006/main">
            <a:pathLst>
              <a:path w="125016" h="953">
                <a:moveTo>
                  <a:pt x="0" y="0"/>
                </a:moveTo>
                <a:lnTo>
                  <a:pt x="125016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754">
            <a:solidFill>
              <a:srgbClr val="B96C43"/>
            </a:solidFill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1668AE6-AADC-4925-99F0-3A3C7C763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4362450"/>
            <a:ext cx="7810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175" b="0">
                <a:solidFill>
                  <a:srgbClr val="B96C43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sz="2175" b="0">
                <a:solidFill>
                  <a:srgbClr val="B96C43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sz="2175" b="0">
                <a:solidFill>
                  <a:srgbClr val="B96C43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sz="2175" b="0">
                <a:solidFill>
                  <a:srgbClr val="B96C43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sz="2175" b="0">
                <a:solidFill>
                  <a:srgbClr val="B96C43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sz="2175" b="0">
                <a:solidFill>
                  <a:srgbClr val="B96C43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sz="2175" b="0">
                <a:solidFill>
                  <a:srgbClr val="B96C43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sz="2175" b="0">
                <a:solidFill>
                  <a:srgbClr val="B96C43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sz="2175" b="0">
                <a:solidFill>
                  <a:srgbClr val="B96C43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sz="2175" b="0">
                <a:solidFill>
                  <a:srgbClr val="B96C43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175" b="0">
                <a:solidFill>
                  <a:srgbClr val="B96C43"/>
                </a:solidFill>
                <a:latin typeface="Avenir Next"/>
                <a:ea typeface="Avenir Next"/>
                <a:cs typeface="Avenir Next"/>
              </a:defRPr>
            </a:pPr>
            <a:r>
              <a:rPr sz="2175" b="0">
                <a:solidFill>
                  <a:srgbClr val="B96C43"/>
                </a:solidFill>
                <a:latin typeface="Avenir Next"/>
                <a:ea typeface="Avenir Next"/>
                <a:cs typeface="Avenir Next"/>
              </a:rPr>
              <a:t>03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4993C74-DEE8-4AF3-B491-C944293CD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895850"/>
            <a:ext cx="1504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575" b="0">
                <a:solidFill>
                  <a:srgbClr val="B96C43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575" b="0">
                <a:solidFill>
                  <a:srgbClr val="B96C43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575" b="0">
                <a:solidFill>
                  <a:srgbClr val="B96C43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575" b="0">
                <a:solidFill>
                  <a:srgbClr val="B96C43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575" b="0">
                <a:solidFill>
                  <a:srgbClr val="B96C43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575" b="0">
                <a:solidFill>
                  <a:srgbClr val="B96C43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575" b="0">
                <a:solidFill>
                  <a:srgbClr val="B96C43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575" b="0">
                <a:solidFill>
                  <a:srgbClr val="B96C43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575" b="0">
                <a:solidFill>
                  <a:srgbClr val="B96C43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575" b="0">
                <a:solidFill>
                  <a:srgbClr val="B96C43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lnSpc>
                <a:spcPct val="113000"/>
              </a:lnSpc>
              <a:buNone/>
              <a:defRPr sz="1575" b="0">
                <a:solidFill>
                  <a:srgbClr val="B96C43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B96C43"/>
                </a:solidFill>
                <a:latin typeface="PingFang SC"/>
                <a:ea typeface="PingFang SC"/>
                <a:cs typeface="PingFang SC"/>
              </a:rPr>
              <a:t>最新快照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5CE76639-D517-417F-AE9C-A4C9DDF0B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524500"/>
            <a:ext cx="10953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DE6"/>
          </a:solidFill>
          <a:ln xmlns:a="http://schemas.openxmlformats.org/drawingml/2006/main" w="0">
            <a:noFill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80C4B249-47E1-49F5-80CC-57D66835D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610225"/>
            <a:ext cx="105060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75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875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875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875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875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875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875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875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875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875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75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47776F"/>
                </a:solidFill>
                <a:latin typeface="PingFang SC"/>
                <a:ea typeface="PingFang SC"/>
                <a:cs typeface="PingFang SC"/>
              </a:rPr>
              <a:t>停止任务后，已完成快照继续保留</a:t>
            </a:r>
          </a:p>
        </p:txBody>
      </p:sp>
    </p:spTree>
    <p:extLst>
      <p:ext uri="{BB962C8B-B14F-4D97-AF65-F5344CB8AC3E}">
        <p14:creationId xmlns:p14="http://schemas.microsoft.com/office/powerpoint/2010/main" val="32892130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41EE487D-2F05-4442-9437-3C6A54ED3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0"/>
            <a:ext cx="2381250" cy="1762125"/>
          </a:xfrm>
          <a:custGeom xmlns:a="http://schemas.openxmlformats.org/drawingml/2006/main">
            <a:pathLst>
              <a:path w="2381250" h="1762125">
                <a:moveTo>
                  <a:pt x="0" y="0"/>
                </a:moveTo>
                <a:cubicBezTo>
                  <a:pt x="190500" y="809625"/>
                  <a:pt x="952500" y="762000"/>
                  <a:pt x="2286000" y="1666875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E1E7DE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4089BF-73C9-41D7-9AB1-096D30152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0"/>
            <a:ext cx="2228850" cy="1885950"/>
          </a:xfrm>
          <a:custGeom xmlns:a="http://schemas.openxmlformats.org/drawingml/2006/main">
            <a:pathLst>
              <a:path w="2228850" h="1885950">
                <a:moveTo>
                  <a:pt x="0" y="0"/>
                </a:moveTo>
                <a:cubicBezTo>
                  <a:pt x="190500" y="866775"/>
                  <a:pt x="933450" y="857250"/>
                  <a:pt x="2133600" y="1790700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E1E7DE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F1B5FE9-C83D-46F6-9BD0-16CF02645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0"/>
            <a:ext cx="2076450" cy="2009775"/>
          </a:xfrm>
          <a:custGeom xmlns:a="http://schemas.openxmlformats.org/drawingml/2006/main">
            <a:pathLst>
              <a:path w="2076450" h="2009775">
                <a:moveTo>
                  <a:pt x="0" y="0"/>
                </a:moveTo>
                <a:cubicBezTo>
                  <a:pt x="190500" y="923925"/>
                  <a:pt x="914400" y="952500"/>
                  <a:pt x="1981200" y="1914525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E1E7DE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A31663-3C01-414F-A5C5-16289A96F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0"/>
            <a:ext cx="1924050" cy="2133600"/>
          </a:xfrm>
          <a:custGeom xmlns:a="http://schemas.openxmlformats.org/drawingml/2006/main">
            <a:pathLst>
              <a:path w="1924050" h="2133600">
                <a:moveTo>
                  <a:pt x="0" y="0"/>
                </a:moveTo>
                <a:cubicBezTo>
                  <a:pt x="190500" y="981075"/>
                  <a:pt x="895350" y="1047750"/>
                  <a:pt x="1828800" y="2038350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E1E7DE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3367D8-630B-4FD8-8B40-182CAD066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0"/>
            <a:ext cx="1771650" cy="2257425"/>
          </a:xfrm>
          <a:custGeom xmlns:a="http://schemas.openxmlformats.org/drawingml/2006/main">
            <a:pathLst>
              <a:path w="1771650" h="2257425">
                <a:moveTo>
                  <a:pt x="0" y="0"/>
                </a:moveTo>
                <a:cubicBezTo>
                  <a:pt x="190500" y="1038225"/>
                  <a:pt x="876300" y="1143000"/>
                  <a:pt x="1676400" y="2162175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E1E7DE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74F836-A696-45AE-80F9-3DA4E09DF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0"/>
            <a:ext cx="1619250" cy="2381250"/>
          </a:xfrm>
          <a:custGeom xmlns:a="http://schemas.openxmlformats.org/drawingml/2006/main">
            <a:pathLst>
              <a:path w="1619250" h="2381250">
                <a:moveTo>
                  <a:pt x="0" y="0"/>
                </a:moveTo>
                <a:cubicBezTo>
                  <a:pt x="190500" y="1095375"/>
                  <a:pt x="857250" y="1238250"/>
                  <a:pt x="1524000" y="2286000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E1E7DE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57E7DA7-C730-4A66-9762-0CB996457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87050" y="0"/>
            <a:ext cx="1466850" cy="2505075"/>
          </a:xfrm>
          <a:custGeom xmlns:a="http://schemas.openxmlformats.org/drawingml/2006/main">
            <a:pathLst>
              <a:path w="1466850" h="2505075">
                <a:moveTo>
                  <a:pt x="0" y="0"/>
                </a:moveTo>
                <a:cubicBezTo>
                  <a:pt x="190500" y="1152525"/>
                  <a:pt x="838200" y="1333500"/>
                  <a:pt x="1371600" y="2409825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E1E7DE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800DB7-8A20-47E2-8923-58A355CF2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89A62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AE354A1-D7CA-46C7-8D24-116B15A9A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7675"/>
            <a:ext cx="10287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pPr>
            <a:r>
              <a: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rPr>
              <a:t>一套核心，连接三种入口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A0EA8B6-02F9-4C90-B203-E2937A369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00150"/>
            <a:ext cx="11010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4DDD7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7C04B42-66D2-4355-B5A3-1929CB412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00150"/>
            <a:ext cx="5429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B89A62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870665E-EFB5-4DAD-99C7-4E30097D7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71450"/>
            <a:ext cx="37814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defPPr>
            <a:lvl1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1pPr>
            <a:lvl2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2pPr>
            <a:lvl3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3pPr>
            <a:lvl4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4pPr>
            <a:lvl5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5pPr>
            <a:lvl6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6pPr>
            <a:lvl7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7pPr>
            <a:lvl8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8pPr>
            <a:lvl9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r">
              <a:lnSpc>
                <a:spcPct val="113000"/>
              </a:lnSpc>
              <a:buNone/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rPr>
              <a:t>02  设计与实现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08A264A-E649-48AC-8A53-92358048A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6353175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defPPr>
            <a:lvl1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1pPr>
            <a:lvl2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2pPr>
            <a:lvl3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3pPr>
            <a:lvl4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4pPr>
            <a:lvl5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5pPr>
            <a:lvl6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6pPr>
            <a:lvl7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7pPr>
            <a:lvl8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8pPr>
            <a:lvl9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r">
              <a:lnSpc>
                <a:spcPct val="113000"/>
              </a:lnSpc>
              <a:buNone/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pPr>
            <a:r>
              <a: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rPr>
              <a:t>05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1F12A7E-77C9-4876-95A6-198F7115F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06175" y="6419850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rPr>
              <a:t>/ 11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52BB5F3-5DB0-4880-8383-5EEC084B0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638300"/>
            <a:ext cx="3333750" cy="981075"/>
          </a:xfrm>
          <a:prstGeom xmlns:a="http://schemas.openxmlformats.org/drawingml/2006/main" prst="roundRect">
            <a:avLst>
              <a:gd name="adj" fmla="val 7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7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4AD9DE1-1AC1-442A-A7C5-F3EC0654B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762125"/>
            <a:ext cx="28575" cy="733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7776F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8D395F8-92ED-4DDF-9D19-7E593A90A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781175"/>
            <a:ext cx="2952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rPr>
              <a:t>Cocoa GUI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CC9053C-42ED-47DD-9E4D-5AC30C3E2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181225"/>
            <a:ext cx="2952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rPr>
              <a:t>原生图形界面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1D3D35A-40BA-4C7C-8552-236AA612E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1638300"/>
            <a:ext cx="3333750" cy="981075"/>
          </a:xfrm>
          <a:prstGeom xmlns:a="http://schemas.openxmlformats.org/drawingml/2006/main" prst="roundRect">
            <a:avLst>
              <a:gd name="adj" fmla="val 7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7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D4EA89A-614D-418F-A2FC-A366C8C1F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1762125"/>
            <a:ext cx="28575" cy="733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7776F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A83DB78-5241-4B23-8C37-4DA86FEF3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1781175"/>
            <a:ext cx="2952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rPr>
              <a:t>CLI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0C1A659-9015-470C-9AE4-CBB8C7C24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181225"/>
            <a:ext cx="2952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rPr>
              <a:t>命令行操作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12F42C8-DEC6-4409-AB67-32E7FA9D2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638300"/>
            <a:ext cx="3333750" cy="981075"/>
          </a:xfrm>
          <a:prstGeom xmlns:a="http://schemas.openxmlformats.org/drawingml/2006/main" prst="roundRect">
            <a:avLst>
              <a:gd name="adj" fmla="val 7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7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EAAEE0E-7B08-4C21-801D-295F9EA4F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762125"/>
            <a:ext cx="28575" cy="733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7776F"/>
          </a:solidFill>
          <a:ln xmlns:a="http://schemas.openxmlformats.org/drawingml/2006/main" w="0">
            <a:noFill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9EC1C6C-83AC-48FB-8F45-3D0923012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1781175"/>
            <a:ext cx="2952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rPr>
              <a:t>Scheduler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C20A648-2670-47D0-9F54-FB21F6D40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181225"/>
            <a:ext cx="2952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rPr>
              <a:t>定时与变化检测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052A2F4-0692-4721-A0EF-BB9A1B829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095625"/>
            <a:ext cx="4876800" cy="1047750"/>
          </a:xfrm>
          <a:prstGeom xmlns:a="http://schemas.openxmlformats.org/drawingml/2006/main" prst="roundRect">
            <a:avLst>
              <a:gd name="adj" fmla="val 7000"/>
            </a:avLst>
          </a:prstGeom>
          <a:solidFill xmlns:a="http://schemas.openxmlformats.org/drawingml/2006/main">
            <a:srgbClr val="20393E"/>
          </a:solidFill>
          <a:ln xmlns:a="http://schemas.openxmlformats.org/drawingml/2006/main" w="9525">
            <a:solidFill>
              <a:srgbClr val="D4DDD7"/>
            </a:solidFill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34C6BBF-7835-4843-ABFC-E9076313A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219450"/>
            <a:ext cx="28575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9A62"/>
          </a:solidFill>
          <a:ln xmlns:a="http://schemas.openxmlformats.org/drawingml/2006/main" w="0">
            <a:noFill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B2AD29F-305F-4C59-85A0-D7F48B911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238500"/>
            <a:ext cx="4495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BackupService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0006D04-A64A-4E3D-AD41-5FABF3137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638550"/>
            <a:ext cx="4495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425" b="0">
                <a:solidFill>
                  <a:srgbClr val="C3D3CF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425" b="0">
                <a:solidFill>
                  <a:srgbClr val="C3D3CF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425" b="0">
                <a:solidFill>
                  <a:srgbClr val="C3D3CF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425" b="0">
                <a:solidFill>
                  <a:srgbClr val="C3D3CF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425" b="0">
                <a:solidFill>
                  <a:srgbClr val="C3D3CF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425" b="0">
                <a:solidFill>
                  <a:srgbClr val="C3D3CF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425" b="0">
                <a:solidFill>
                  <a:srgbClr val="C3D3CF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425" b="0">
                <a:solidFill>
                  <a:srgbClr val="C3D3CF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425" b="0">
                <a:solidFill>
                  <a:srgbClr val="C3D3CF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425" b="0">
                <a:solidFill>
                  <a:srgbClr val="C3D3C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425" b="0">
                <a:solidFill>
                  <a:srgbClr val="C3D3CF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C3D3CF"/>
                </a:solidFill>
                <a:latin typeface="PingFang SC"/>
                <a:ea typeface="PingFang SC"/>
                <a:cs typeface="PingFang SC"/>
              </a:rPr>
              <a:t>backup   /   inspect   /   restore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B04BB96-D75F-4B78-B0FA-7CF310BED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6193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47776F"/>
            </a:solidFill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26D3145-0FD9-4058-A27D-FD9618B45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26193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47776F"/>
            </a:solidFill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446E005-0B99-40E5-ADAF-6E819CAC9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26193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47776F"/>
            </a:solidFill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9CFD120-7A2E-47A0-802C-09498280D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867025"/>
            <a:ext cx="76295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47776F"/>
            </a:solidFill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25DC574-273F-4752-B161-18563B6E5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867025"/>
            <a:ext cx="0" cy="2286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47776F"/>
            </a:solidFill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297F71D-48F3-47C5-AA04-B96C0BC1D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143375"/>
            <a:ext cx="0" cy="2952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47776F"/>
            </a:solidFill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67732F3-6F3A-4CD5-88F6-873E526E3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4525" y="4438650"/>
            <a:ext cx="83724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47776F"/>
            </a:solidFill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81F19A8-EE44-4126-A386-7D3A19957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4525" y="4438650"/>
            <a:ext cx="0" cy="2381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47776F"/>
            </a:solidFill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800136E-0F63-4BF0-A463-6929D7B45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676775"/>
            <a:ext cx="2571750" cy="962025"/>
          </a:xfrm>
          <a:prstGeom xmlns:a="http://schemas.openxmlformats.org/drawingml/2006/main" prst="roundRect">
            <a:avLst>
              <a:gd name="adj" fmla="val 7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7"/>
            </a:solidFill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B252199-9755-48F9-99F9-247E3305A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800600"/>
            <a:ext cx="28575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7776F"/>
          </a:solidFill>
          <a:ln xmlns:a="http://schemas.openxmlformats.org/drawingml/2006/main" w="0">
            <a:noFill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3380424-55E1-4F52-A60B-79DE8119E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819650"/>
            <a:ext cx="2190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rPr>
              <a:t>FileScanner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038ACF7-3A88-4815-8E6B-7B1BF6811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219700"/>
            <a:ext cx="2190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rPr>
              <a:t>扫描与筛选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AFAF570-B484-4DA0-82B8-9518C0777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438650"/>
            <a:ext cx="0" cy="2381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47776F"/>
            </a:solidFill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60D7A4E-AAB7-4C73-A427-6F1AE8972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676775"/>
            <a:ext cx="2571750" cy="962025"/>
          </a:xfrm>
          <a:prstGeom xmlns:a="http://schemas.openxmlformats.org/drawingml/2006/main" prst="roundRect">
            <a:avLst>
              <a:gd name="adj" fmla="val 7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7"/>
            </a:solidFill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D966569-9AD0-4BE8-8288-B44F487D6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800600"/>
            <a:ext cx="28575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7776F"/>
          </a:solidFill>
          <a:ln xmlns:a="http://schemas.openxmlformats.org/drawingml/2006/main" w="0">
            <a:noFill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388B902-619E-47D3-B865-CF27CAE1C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4819650"/>
            <a:ext cx="2190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rPr>
              <a:t>Archive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8CAE60D-3ED9-4396-BCF6-FCDB98A4C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5219700"/>
            <a:ext cx="2190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rPr>
              <a:t>目录树读写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0F25EC15-C1C8-4C20-830E-6B2836A1E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6175" y="4438650"/>
            <a:ext cx="0" cy="2381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47776F"/>
            </a:solidFill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CE4E6A9-7F87-46AE-806C-9C9A41188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4676775"/>
            <a:ext cx="2571750" cy="962025"/>
          </a:xfrm>
          <a:prstGeom xmlns:a="http://schemas.openxmlformats.org/drawingml/2006/main" prst="roundRect">
            <a:avLst>
              <a:gd name="adj" fmla="val 7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7"/>
            </a:solidFill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6F74940B-C6B5-4243-A9B9-B61A0CF21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4800600"/>
            <a:ext cx="28575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7776F"/>
          </a:solidFill>
          <a:ln xmlns:a="http://schemas.openxmlformats.org/drawingml/2006/main" w="0">
            <a:noFill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59B93CFB-CBE6-40C1-B681-87052A1AB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4819650"/>
            <a:ext cx="2190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rPr>
              <a:t>HuffmanCodec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A7B4DBB9-0077-4DC5-B0CC-3F5738D6E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5219700"/>
            <a:ext cx="2190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rPr>
              <a:t>分块压缩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A9B03565-BCE3-4222-8DA5-BCAAED5EC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4438650"/>
            <a:ext cx="0" cy="2381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47776F"/>
            </a:solidFill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217E67B1-7A76-4F4A-A8C2-1F184FF22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4676775"/>
            <a:ext cx="2571750" cy="962025"/>
          </a:xfrm>
          <a:prstGeom xmlns:a="http://schemas.openxmlformats.org/drawingml/2006/main" prst="roundRect">
            <a:avLst>
              <a:gd name="adj" fmla="val 7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7"/>
            </a:solidFill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96A128BB-E2FE-44D3-8E54-3BAC60219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4800600"/>
            <a:ext cx="28575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7776F"/>
          </a:solidFill>
          <a:ln xmlns:a="http://schemas.openxmlformats.org/drawingml/2006/main" w="0">
            <a:noFill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5A3673C6-C37D-4B52-9F05-43082CDD4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4819650"/>
            <a:ext cx="2190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rPr>
              <a:t>CryptoEnvelope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C9B87E63-B472-4A90-8CBA-A0CDDE34C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5219700"/>
            <a:ext cx="2190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rPr>
              <a:t>密码封装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E1639E36-6351-4643-8CBE-FAA77763F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915025"/>
            <a:ext cx="1095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4DDD7"/>
            </a:solidFill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C1A2310F-7DD6-432C-A343-7E76E7F3E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057900"/>
            <a:ext cx="7048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5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5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5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5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5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5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5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5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5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5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6F807D"/>
                </a:solidFill>
                <a:latin typeface="PingFang SC"/>
                <a:ea typeface="PingFang SC"/>
                <a:cs typeface="PingFang SC"/>
              </a:rPr>
              <a:t>C++17   /   macOS arm64   /   Apple Clang 14.0.3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93764417-1D90-4653-9EE8-FE525163A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6057900"/>
            <a:ext cx="28289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50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defPPr>
            <a:lvl1pPr algn="r">
              <a:defRPr sz="150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1pPr>
            <a:lvl2pPr algn="r">
              <a:defRPr sz="150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2pPr>
            <a:lvl3pPr algn="r">
              <a:defRPr sz="150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3pPr>
            <a:lvl4pPr algn="r">
              <a:defRPr sz="150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4pPr>
            <a:lvl5pPr algn="r">
              <a:defRPr sz="150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5pPr>
            <a:lvl6pPr algn="r">
              <a:defRPr sz="150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6pPr>
            <a:lvl7pPr algn="r">
              <a:defRPr sz="150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7pPr>
            <a:lvl8pPr algn="r">
              <a:defRPr sz="150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8pPr>
            <a:lvl9pPr algn="r">
              <a:defRPr sz="150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r">
              <a:lnSpc>
                <a:spcPct val="113000"/>
              </a:lnSpc>
              <a:buNone/>
              <a:defRPr sz="150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47776F"/>
                </a:solidFill>
                <a:latin typeface="PingFang SC"/>
                <a:ea typeface="PingFang SC"/>
                <a:cs typeface="PingFang SC"/>
              </a:rPr>
              <a:t>Git   +   cpplint</a:t>
            </a:r>
          </a:p>
        </p:txBody>
      </p:sp>
    </p:spTree>
    <p:extLst>
      <p:ext uri="{BB962C8B-B14F-4D97-AF65-F5344CB8AC3E}">
        <p14:creationId xmlns:p14="http://schemas.microsoft.com/office/powerpoint/2010/main" val="200431366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82421513-7645-40D9-9065-B3DA7D0EA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0"/>
            <a:ext cx="2381250" cy="1762125"/>
          </a:xfrm>
          <a:custGeom xmlns:a="http://schemas.openxmlformats.org/drawingml/2006/main">
            <a:pathLst>
              <a:path w="2381250" h="1762125">
                <a:moveTo>
                  <a:pt x="0" y="0"/>
                </a:moveTo>
                <a:cubicBezTo>
                  <a:pt x="190500" y="809625"/>
                  <a:pt x="952500" y="762000"/>
                  <a:pt x="2286000" y="1666875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E1E7DE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AC3AFD0-915B-4B50-8BB4-BBCD410F7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0"/>
            <a:ext cx="2228850" cy="1885950"/>
          </a:xfrm>
          <a:custGeom xmlns:a="http://schemas.openxmlformats.org/drawingml/2006/main">
            <a:pathLst>
              <a:path w="2228850" h="1885950">
                <a:moveTo>
                  <a:pt x="0" y="0"/>
                </a:moveTo>
                <a:cubicBezTo>
                  <a:pt x="190500" y="866775"/>
                  <a:pt x="933450" y="857250"/>
                  <a:pt x="2133600" y="1790700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E1E7DE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B35188-931C-4ED1-8B5D-1F06F52BE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0"/>
            <a:ext cx="2076450" cy="2009775"/>
          </a:xfrm>
          <a:custGeom xmlns:a="http://schemas.openxmlformats.org/drawingml/2006/main">
            <a:pathLst>
              <a:path w="2076450" h="2009775">
                <a:moveTo>
                  <a:pt x="0" y="0"/>
                </a:moveTo>
                <a:cubicBezTo>
                  <a:pt x="190500" y="923925"/>
                  <a:pt x="914400" y="952500"/>
                  <a:pt x="1981200" y="1914525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E1E7DE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577570-975B-4566-974D-FB31E3043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0"/>
            <a:ext cx="1924050" cy="2133600"/>
          </a:xfrm>
          <a:custGeom xmlns:a="http://schemas.openxmlformats.org/drawingml/2006/main">
            <a:pathLst>
              <a:path w="1924050" h="2133600">
                <a:moveTo>
                  <a:pt x="0" y="0"/>
                </a:moveTo>
                <a:cubicBezTo>
                  <a:pt x="190500" y="981075"/>
                  <a:pt x="895350" y="1047750"/>
                  <a:pt x="1828800" y="2038350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E1E7DE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E3CE7D-7854-48B5-9EDD-96F78B6F0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0"/>
            <a:ext cx="1771650" cy="2257425"/>
          </a:xfrm>
          <a:custGeom xmlns:a="http://schemas.openxmlformats.org/drawingml/2006/main">
            <a:pathLst>
              <a:path w="1771650" h="2257425">
                <a:moveTo>
                  <a:pt x="0" y="0"/>
                </a:moveTo>
                <a:cubicBezTo>
                  <a:pt x="190500" y="1038225"/>
                  <a:pt x="876300" y="1143000"/>
                  <a:pt x="1676400" y="2162175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E1E7DE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027C0D-4CE9-4791-955B-BB9EE2535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0"/>
            <a:ext cx="1619250" cy="2381250"/>
          </a:xfrm>
          <a:custGeom xmlns:a="http://schemas.openxmlformats.org/drawingml/2006/main">
            <a:pathLst>
              <a:path w="1619250" h="2381250">
                <a:moveTo>
                  <a:pt x="0" y="0"/>
                </a:moveTo>
                <a:cubicBezTo>
                  <a:pt x="190500" y="1095375"/>
                  <a:pt x="857250" y="1238250"/>
                  <a:pt x="1524000" y="2286000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E1E7DE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6A94205-8121-4ED1-AE0A-06CBE5A6E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87050" y="0"/>
            <a:ext cx="1466850" cy="2505075"/>
          </a:xfrm>
          <a:custGeom xmlns:a="http://schemas.openxmlformats.org/drawingml/2006/main">
            <a:pathLst>
              <a:path w="1466850" h="2505075">
                <a:moveTo>
                  <a:pt x="0" y="0"/>
                </a:moveTo>
                <a:cubicBezTo>
                  <a:pt x="190500" y="1152525"/>
                  <a:pt x="838200" y="1333500"/>
                  <a:pt x="1371600" y="2409825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E1E7DE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793EC0A-4C6C-4C84-AF4F-4B1FE6B64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89A62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4607F60-B844-4C19-ABB2-3376CA34C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7675"/>
            <a:ext cx="10287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pPr>
            <a:r>
              <a: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rPr>
              <a:t>归档封装与算法选择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5FED6D-DA8E-4D35-B3E5-431C36DB3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00150"/>
            <a:ext cx="11010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4DDD7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52F0AE3-9532-4BEA-832A-F53F689B9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00150"/>
            <a:ext cx="5429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B89A62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3C442D4-2289-42AC-B933-628C486C9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71450"/>
            <a:ext cx="37814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defPPr>
            <a:lvl1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1pPr>
            <a:lvl2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2pPr>
            <a:lvl3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3pPr>
            <a:lvl4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4pPr>
            <a:lvl5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5pPr>
            <a:lvl6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6pPr>
            <a:lvl7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7pPr>
            <a:lvl8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8pPr>
            <a:lvl9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r">
              <a:lnSpc>
                <a:spcPct val="113000"/>
              </a:lnSpc>
              <a:buNone/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rPr>
              <a:t>02  设计与实现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462017D-49CE-4304-A93E-0B6C80373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6353175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defPPr>
            <a:lvl1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1pPr>
            <a:lvl2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2pPr>
            <a:lvl3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3pPr>
            <a:lvl4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4pPr>
            <a:lvl5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5pPr>
            <a:lvl6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6pPr>
            <a:lvl7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7pPr>
            <a:lvl8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8pPr>
            <a:lvl9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r">
              <a:lnSpc>
                <a:spcPct val="113000"/>
              </a:lnSpc>
              <a:buNone/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pPr>
            <a:r>
              <a: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rPr>
              <a:t>06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EFFB6DE-BD1D-42ED-A2C9-A16E78305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06175" y="6419850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rPr>
              <a:t>/ 11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47C2CDB-C60F-487E-8466-F99866189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57350"/>
            <a:ext cx="31432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525" b="1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sz="3525" b="1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sz="3525" b="1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sz="3525" b="1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sz="3525" b="1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sz="3525" b="1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sz="3525" b="1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sz="3525" b="1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sz="3525" b="1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sz="3525" b="1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3525" b="1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pPr>
            <a:r>
              <a:rPr sz="3525" b="1">
                <a:solidFill>
                  <a:srgbClr val="47776F"/>
                </a:solidFill>
                <a:latin typeface="Avenir Next"/>
                <a:ea typeface="Avenir Next"/>
                <a:cs typeface="Avenir Next"/>
              </a:rPr>
              <a:t>SQBK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449EFF7-148C-48EE-B3EF-20A934C98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1800225"/>
            <a:ext cx="419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8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8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8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8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8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8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8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8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8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6F807D"/>
                </a:solidFill>
                <a:latin typeface="PingFang SC"/>
                <a:ea typeface="PingFang SC"/>
                <a:cs typeface="PingFang SC"/>
              </a:rPr>
              <a:t>备份文件封装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102EF6B-8803-4166-96A1-35C59C680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457450"/>
            <a:ext cx="5133975" cy="3171825"/>
          </a:xfrm>
          <a:prstGeom xmlns:a="http://schemas.openxmlformats.org/drawingml/2006/main" prst="roundRect">
            <a:avLst>
              <a:gd name="adj" fmla="val 2402"/>
            </a:avLst>
          </a:prstGeom>
          <a:solidFill xmlns:a="http://schemas.openxmlformats.org/drawingml/2006/main">
            <a:srgbClr val="E7EDE6"/>
          </a:solidFill>
          <a:ln xmlns:a="http://schemas.openxmlformats.org/drawingml/2006/main" w="9525">
            <a:solidFill>
              <a:srgbClr val="D4DDD7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3DC20C3-A804-4A8C-B914-C5151CD51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2686050"/>
            <a:ext cx="4429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17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217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217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217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217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217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217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217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217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217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17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pPr>
            <a:r>
              <a:rPr sz="2175" b="1">
                <a:solidFill>
                  <a:srgbClr val="243A40"/>
                </a:solidFill>
                <a:latin typeface="PingFang SC"/>
                <a:ea typeface="PingFang SC"/>
                <a:cs typeface="PingFang SC"/>
              </a:rPr>
              <a:t>SQTREE  目录树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93AE551-6B8E-4BDB-A985-F03996AD7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402" y="3399830"/>
            <a:ext cx="86122" cy="7381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149">
            <a:solidFill>
              <a:srgbClr val="47776F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A055571-50D3-4503-862F-AE7A80BE1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280" y="3590528"/>
            <a:ext cx="86122" cy="67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149">
            <a:solidFill>
              <a:srgbClr val="47776F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B8AAF7F-AC67-4F52-B6EF-16148444D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523" y="3590528"/>
            <a:ext cx="86122" cy="67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149">
            <a:solidFill>
              <a:srgbClr val="47776F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37ABD6E-8C26-4D7A-903E-9B9BEE459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3" y="3473648"/>
            <a:ext cx="953" cy="67667"/>
          </a:xfrm>
          <a:custGeom xmlns:a="http://schemas.openxmlformats.org/drawingml/2006/main">
            <a:pathLst>
              <a:path w="953" h="67667">
                <a:moveTo>
                  <a:pt x="0" y="0"/>
                </a:moveTo>
                <a:lnTo>
                  <a:pt x="0" y="67667"/>
                </a:lnTo>
              </a:path>
            </a:pathLst>
          </a:custGeom>
          <a:noFill xmlns:a="http://schemas.openxmlformats.org/drawingml/2006/main"/>
          <a:ln xmlns:a="http://schemas.openxmlformats.org/drawingml/2006/main" w="14149">
            <a:solidFill>
              <a:srgbClr val="47776F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19F64E7-27C9-41FC-A392-611D8CC3D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341" y="3541316"/>
            <a:ext cx="172244" cy="953"/>
          </a:xfrm>
          <a:custGeom xmlns:a="http://schemas.openxmlformats.org/drawingml/2006/main">
            <a:pathLst>
              <a:path w="172244" h="953">
                <a:moveTo>
                  <a:pt x="0" y="0"/>
                </a:moveTo>
                <a:lnTo>
                  <a:pt x="172244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149">
            <a:solidFill>
              <a:srgbClr val="47776F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62819D4-87D6-4B2E-82A0-F70C7DB0F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341" y="3541316"/>
            <a:ext cx="953" cy="49213"/>
          </a:xfrm>
          <a:custGeom xmlns:a="http://schemas.openxmlformats.org/drawingml/2006/main">
            <a:pathLst>
              <a:path w="953" h="49213">
                <a:moveTo>
                  <a:pt x="0" y="0"/>
                </a:moveTo>
                <a:lnTo>
                  <a:pt x="0" y="49213"/>
                </a:lnTo>
              </a:path>
            </a:pathLst>
          </a:custGeom>
          <a:noFill xmlns:a="http://schemas.openxmlformats.org/drawingml/2006/main"/>
          <a:ln xmlns:a="http://schemas.openxmlformats.org/drawingml/2006/main" w="14149">
            <a:solidFill>
              <a:srgbClr val="47776F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74324CF-79CF-4B88-AC9F-9EA170864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584" y="3541316"/>
            <a:ext cx="953" cy="49213"/>
          </a:xfrm>
          <a:custGeom xmlns:a="http://schemas.openxmlformats.org/drawingml/2006/main">
            <a:pathLst>
              <a:path w="953" h="49213">
                <a:moveTo>
                  <a:pt x="0" y="0"/>
                </a:moveTo>
                <a:lnTo>
                  <a:pt x="0" y="49213"/>
                </a:lnTo>
              </a:path>
            </a:pathLst>
          </a:custGeom>
          <a:noFill xmlns:a="http://schemas.openxmlformats.org/drawingml/2006/main"/>
          <a:ln xmlns:a="http://schemas.openxmlformats.org/drawingml/2006/main" w="14149">
            <a:solidFill>
              <a:srgbClr val="47776F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A2C7CFD-2403-4A94-9762-8D26A4917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371850"/>
            <a:ext cx="21050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7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7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7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7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7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7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7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7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7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7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243A40"/>
                </a:solidFill>
                <a:latin typeface="PingFang SC"/>
                <a:ea typeface="PingFang SC"/>
                <a:cs typeface="PingFang SC"/>
              </a:rPr>
              <a:t>类型 / 路径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32E52DA-FF59-452B-9159-B5E601575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7575" y="3381375"/>
            <a:ext cx="19716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5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5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5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5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5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5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5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5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5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5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6F807D"/>
                </a:solidFill>
                <a:latin typeface="PingFang SC"/>
                <a:ea typeface="PingFang SC"/>
                <a:cs typeface="PingFang SC"/>
              </a:rPr>
              <a:t>文件元数据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F25083E-99C2-40E5-8D73-C42280D87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800475"/>
            <a:ext cx="400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4DDD7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1C0FD50-5A56-483F-A32D-DAC55E5A3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795" y="4050308"/>
            <a:ext cx="178395" cy="147638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14149">
            <a:solidFill>
              <a:srgbClr val="47776F"/>
            </a:solidFill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0B81702-4725-4316-A5CD-544C16369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734" y="4117975"/>
            <a:ext cx="178395" cy="153789"/>
          </a:xfrm>
          <a:prstGeom xmlns:a="http://schemas.openxmlformats.org/drawingml/2006/main" prst="roundRect">
            <a:avLst>
              <a:gd name="adj" fmla="val 49548"/>
            </a:avLst>
          </a:prstGeom>
          <a:noFill xmlns:a="http://schemas.openxmlformats.org/drawingml/2006/main"/>
          <a:ln xmlns:a="http://schemas.openxmlformats.org/drawingml/2006/main" w="14149">
            <a:solidFill>
              <a:srgbClr val="47776F"/>
            </a:solidFill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636B68E-9427-4FB5-AA41-6C7AF498B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10025"/>
            <a:ext cx="21050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7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7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7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7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7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7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7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7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7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7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243A40"/>
                </a:solidFill>
                <a:latin typeface="PingFang SC"/>
                <a:ea typeface="PingFang SC"/>
                <a:cs typeface="PingFang SC"/>
              </a:rPr>
              <a:t>数据块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A6354D3-5184-46B1-BA56-C78FC427C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7575" y="4019550"/>
            <a:ext cx="19716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5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5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5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5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5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5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5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5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5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5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6F807D"/>
                </a:solidFill>
                <a:latin typeface="PingFang SC"/>
                <a:ea typeface="PingFang SC"/>
                <a:cs typeface="PingFang SC"/>
              </a:rPr>
              <a:t>长度与编码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0E990B7-3EE9-4EE5-925F-F024FC2A3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438650"/>
            <a:ext cx="400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4DDD7"/>
            </a:solidFill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F38E45F-970F-496B-8790-8F6BBBD02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431" y="4682331"/>
            <a:ext cx="246063" cy="246063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4149">
            <a:solidFill>
              <a:srgbClr val="47776F"/>
            </a:solidFill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6FCAD94-BD8A-4CCE-AAEF-C41B2C3E2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795" y="4805363"/>
            <a:ext cx="49213" cy="49213"/>
          </a:xfrm>
          <a:custGeom xmlns:a="http://schemas.openxmlformats.org/drawingml/2006/main">
            <a:pathLst>
              <a:path w="49213" h="49213">
                <a:moveTo>
                  <a:pt x="0" y="0"/>
                </a:moveTo>
                <a:lnTo>
                  <a:pt x="49213" y="49213"/>
                </a:lnTo>
              </a:path>
            </a:pathLst>
          </a:custGeom>
          <a:noFill xmlns:a="http://schemas.openxmlformats.org/drawingml/2006/main"/>
          <a:ln xmlns:a="http://schemas.openxmlformats.org/drawingml/2006/main" w="14149">
            <a:solidFill>
              <a:srgbClr val="47776F"/>
            </a:solidFill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8BD5519-DDEF-4AEB-AA99-C1277086F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008" y="4756150"/>
            <a:ext cx="86122" cy="98425"/>
          </a:xfrm>
          <a:custGeom xmlns:a="http://schemas.openxmlformats.org/drawingml/2006/main">
            <a:pathLst>
              <a:path w="86122" h="98425">
                <a:moveTo>
                  <a:pt x="0" y="98425"/>
                </a:moveTo>
                <a:lnTo>
                  <a:pt x="86122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149">
            <a:solidFill>
              <a:srgbClr val="47776F"/>
            </a:solidFill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BB579CA-9152-4DAF-B654-517EA9DE7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648200"/>
            <a:ext cx="21050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7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7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7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7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7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7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7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7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7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7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243A40"/>
                </a:solidFill>
                <a:latin typeface="PingFang SC"/>
                <a:ea typeface="PingFang SC"/>
                <a:cs typeface="PingFang SC"/>
              </a:rPr>
              <a:t>结束标志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D2FB6A3-5E33-4D66-8E3E-058878049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7575" y="4657725"/>
            <a:ext cx="19716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5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5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5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5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5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5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5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5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5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5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6F807D"/>
                </a:solidFill>
                <a:latin typeface="PingFang SC"/>
                <a:ea typeface="PingFang SC"/>
                <a:cs typeface="PingFang SC"/>
              </a:rPr>
              <a:t>完整性校验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7955F90-D066-4C16-9849-96E256E2B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685925"/>
            <a:ext cx="742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70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sz="270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sz="270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sz="270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sz="270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sz="270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sz="270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sz="270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sz="270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sz="270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70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pPr>
            <a:r>
              <a:rPr sz="2700" b="0">
                <a:solidFill>
                  <a:srgbClr val="47776F"/>
                </a:solidFill>
                <a:latin typeface="Avenir Next"/>
                <a:ea typeface="Avenir Next"/>
                <a:cs typeface="Avenir Next"/>
              </a:rPr>
              <a:t>01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3617331-9857-4FB8-9E75-6408110EA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1733550"/>
            <a:ext cx="42862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17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217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217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217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217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217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217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217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217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217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17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pPr>
            <a:r>
              <a:rPr sz="2175" b="1">
                <a:solidFill>
                  <a:srgbClr val="243A40"/>
                </a:solidFill>
                <a:latin typeface="PingFang SC"/>
                <a:ea typeface="PingFang SC"/>
                <a:cs typeface="PingFang SC"/>
              </a:rPr>
              <a:t>分块压缩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B52F483-0BE5-4653-925B-79BE8CCEE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2228850"/>
            <a:ext cx="4314825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7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7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7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7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7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7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7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7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7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7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6F807D"/>
                </a:solidFill>
                <a:latin typeface="PingFang SC"/>
                <a:ea typeface="PingFang SC"/>
                <a:cs typeface="PingFang SC"/>
              </a:rPr>
              <a:t>Huffman 按 1 MiB 编码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7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6F807D"/>
                </a:solidFill>
                <a:latin typeface="PingFang SC"/>
                <a:ea typeface="PingFang SC"/>
                <a:cs typeface="PingFang SC"/>
              </a:rPr>
              <a:t>压缩收益不足时保留原始块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26B58EA-B7E8-471B-87FA-AAFAB067D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114675"/>
            <a:ext cx="742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700" b="0">
                <a:solidFill>
                  <a:srgbClr val="B96C43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sz="2700" b="0">
                <a:solidFill>
                  <a:srgbClr val="B96C43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sz="2700" b="0">
                <a:solidFill>
                  <a:srgbClr val="B96C43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sz="2700" b="0">
                <a:solidFill>
                  <a:srgbClr val="B96C43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sz="2700" b="0">
                <a:solidFill>
                  <a:srgbClr val="B96C43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sz="2700" b="0">
                <a:solidFill>
                  <a:srgbClr val="B96C43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sz="2700" b="0">
                <a:solidFill>
                  <a:srgbClr val="B96C43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sz="2700" b="0">
                <a:solidFill>
                  <a:srgbClr val="B96C43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sz="2700" b="0">
                <a:solidFill>
                  <a:srgbClr val="B96C43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sz="2700" b="0">
                <a:solidFill>
                  <a:srgbClr val="B96C43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700" b="0">
                <a:solidFill>
                  <a:srgbClr val="B96C43"/>
                </a:solidFill>
                <a:latin typeface="Avenir Next"/>
                <a:ea typeface="Avenir Next"/>
                <a:cs typeface="Avenir Next"/>
              </a:defRPr>
            </a:pPr>
            <a:r>
              <a:rPr sz="2700" b="0">
                <a:solidFill>
                  <a:srgbClr val="B96C43"/>
                </a:solidFill>
                <a:latin typeface="Avenir Next"/>
                <a:ea typeface="Avenir Next"/>
                <a:cs typeface="Avenir Next"/>
              </a:rPr>
              <a:t>02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12BE15A-639D-4364-96C9-2CAC6B880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3162300"/>
            <a:ext cx="42862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17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217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217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217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217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217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217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217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217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217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17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pPr>
            <a:r>
              <a:rPr sz="2175" b="1">
                <a:solidFill>
                  <a:srgbClr val="243A40"/>
                </a:solidFill>
                <a:latin typeface="PingFang SC"/>
                <a:ea typeface="PingFang SC"/>
                <a:cs typeface="PingFang SC"/>
              </a:rPr>
              <a:t>密码保护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7C4549B-A1A8-49E6-8BA6-D3D8F6D04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3657600"/>
            <a:ext cx="4314825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7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7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7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7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7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7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7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7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7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7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6F807D"/>
                </a:solidFill>
                <a:latin typeface="PingFang SC"/>
                <a:ea typeface="PingFang SC"/>
                <a:cs typeface="PingFang SC"/>
              </a:rPr>
              <a:t>PBKDF2 派生密钥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7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6F807D"/>
                </a:solidFill>
                <a:latin typeface="PingFang SC"/>
                <a:ea typeface="PingFang SC"/>
                <a:cs typeface="PingFang SC"/>
              </a:rPr>
              <a:t>AES-256-CBC 与 HMAC-SHA256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AEAD9CF-D2E1-4955-A63B-0BB9AC56D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543425"/>
            <a:ext cx="742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70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sz="270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sz="270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sz="270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sz="270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sz="270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sz="270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sz="270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sz="270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sz="270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70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pPr>
            <a:r>
              <a:rPr sz="2700" b="0">
                <a:solidFill>
                  <a:srgbClr val="47776F"/>
                </a:solidFill>
                <a:latin typeface="Avenir Next"/>
                <a:ea typeface="Avenir Next"/>
                <a:cs typeface="Avenir Next"/>
              </a:rPr>
              <a:t>03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3B4F99C-46B2-4055-A266-779F62ECF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4591050"/>
            <a:ext cx="42862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17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217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217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217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217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217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217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217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217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217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17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pPr>
            <a:r>
              <a:rPr sz="2175" b="1">
                <a:solidFill>
                  <a:srgbClr val="243A40"/>
                </a:solidFill>
                <a:latin typeface="PingFang SC"/>
                <a:ea typeface="PingFang SC"/>
                <a:cs typeface="PingFang SC"/>
              </a:rPr>
              <a:t>处理顺序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0EF0E4E-77A7-40CC-A18C-B55F952A5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5086350"/>
            <a:ext cx="4314825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7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7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7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7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7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7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7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7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7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7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6F807D"/>
                </a:solidFill>
                <a:latin typeface="PingFang SC"/>
                <a:ea typeface="PingFang SC"/>
                <a:cs typeface="PingFang SC"/>
              </a:rPr>
              <a:t>备份先压缩、再加密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7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6F807D"/>
                </a:solidFill>
                <a:latin typeface="PingFang SC"/>
                <a:ea typeface="PingFang SC"/>
                <a:cs typeface="PingFang SC"/>
              </a:rPr>
              <a:t>恢复先认证、再解密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B5CEEB1E-ACFF-4964-AEF2-882F710BF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95975"/>
            <a:ext cx="1095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4DDD7"/>
            </a:solidFill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41DC81DF-783A-40EA-9159-DAB4C4533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048375"/>
            <a:ext cx="60007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00" b="0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500" b="0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500" b="0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500" b="0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500" b="0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500" b="0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500" b="0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500" b="0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500" b="0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500" b="0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500" b="0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47776F"/>
                </a:solidFill>
                <a:latin typeface="PingFang SC"/>
                <a:ea typeface="PingFang SC"/>
                <a:cs typeface="PingFang SC"/>
              </a:rPr>
              <a:t>自定义归档格式与 Huffman 编码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8F957DB-39A4-4834-9EE5-C2614B271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6048375"/>
            <a:ext cx="366712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5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defPPr>
            <a:lvl1pPr algn="r">
              <a:defRPr sz="15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1pPr>
            <a:lvl2pPr algn="r">
              <a:defRPr sz="15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2pPr>
            <a:lvl3pPr algn="r">
              <a:defRPr sz="15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3pPr>
            <a:lvl4pPr algn="r">
              <a:defRPr sz="15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4pPr>
            <a:lvl5pPr algn="r">
              <a:defRPr sz="15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5pPr>
            <a:lvl6pPr algn="r">
              <a:defRPr sz="15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6pPr>
            <a:lvl7pPr algn="r">
              <a:defRPr sz="15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7pPr>
            <a:lvl8pPr algn="r">
              <a:defRPr sz="15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8pPr>
            <a:lvl9pPr algn="r">
              <a:defRPr sz="15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r">
              <a:lnSpc>
                <a:spcPct val="113000"/>
              </a:lnSpc>
              <a:buNone/>
              <a:defRPr sz="15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6F807D"/>
                </a:solidFill>
                <a:latin typeface="PingFang SC"/>
                <a:ea typeface="PingFang SC"/>
                <a:cs typeface="PingFang SC"/>
              </a:rPr>
              <a:t>密码原语使用系统库</a:t>
            </a:r>
          </a:p>
        </p:txBody>
      </p:sp>
    </p:spTree>
    <p:extLst>
      <p:ext uri="{BB962C8B-B14F-4D97-AF65-F5344CB8AC3E}">
        <p14:creationId xmlns:p14="http://schemas.microsoft.com/office/powerpoint/2010/main" val="1023943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6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03DFD289-8EDA-4E01-ADB0-7AA95C7AB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0"/>
            <a:ext cx="2381250" cy="1762125"/>
          </a:xfrm>
          <a:custGeom xmlns:a="http://schemas.openxmlformats.org/drawingml/2006/main">
            <a:pathLst>
              <a:path w="2381250" h="1762125">
                <a:moveTo>
                  <a:pt x="0" y="0"/>
                </a:moveTo>
                <a:cubicBezTo>
                  <a:pt x="190500" y="809625"/>
                  <a:pt x="952500" y="762000"/>
                  <a:pt x="2286000" y="1666875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E1E7DE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15531E-3EF4-4537-9360-4C280730B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0"/>
            <a:ext cx="2228850" cy="1885950"/>
          </a:xfrm>
          <a:custGeom xmlns:a="http://schemas.openxmlformats.org/drawingml/2006/main">
            <a:pathLst>
              <a:path w="2228850" h="1885950">
                <a:moveTo>
                  <a:pt x="0" y="0"/>
                </a:moveTo>
                <a:cubicBezTo>
                  <a:pt x="190500" y="866775"/>
                  <a:pt x="933450" y="857250"/>
                  <a:pt x="2133600" y="1790700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E1E7DE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A6B633-67BE-4501-AD28-B64FD9094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0"/>
            <a:ext cx="2076450" cy="2009775"/>
          </a:xfrm>
          <a:custGeom xmlns:a="http://schemas.openxmlformats.org/drawingml/2006/main">
            <a:pathLst>
              <a:path w="2076450" h="2009775">
                <a:moveTo>
                  <a:pt x="0" y="0"/>
                </a:moveTo>
                <a:cubicBezTo>
                  <a:pt x="190500" y="923925"/>
                  <a:pt x="914400" y="952500"/>
                  <a:pt x="1981200" y="1914525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E1E7DE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90D902-EA16-4328-B601-85E0A55C5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0"/>
            <a:ext cx="1924050" cy="2133600"/>
          </a:xfrm>
          <a:custGeom xmlns:a="http://schemas.openxmlformats.org/drawingml/2006/main">
            <a:pathLst>
              <a:path w="1924050" h="2133600">
                <a:moveTo>
                  <a:pt x="0" y="0"/>
                </a:moveTo>
                <a:cubicBezTo>
                  <a:pt x="190500" y="981075"/>
                  <a:pt x="895350" y="1047750"/>
                  <a:pt x="1828800" y="2038350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E1E7DE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69AB34-C07D-42BC-9387-7230A79AC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0"/>
            <a:ext cx="1771650" cy="2257425"/>
          </a:xfrm>
          <a:custGeom xmlns:a="http://schemas.openxmlformats.org/drawingml/2006/main">
            <a:pathLst>
              <a:path w="1771650" h="2257425">
                <a:moveTo>
                  <a:pt x="0" y="0"/>
                </a:moveTo>
                <a:cubicBezTo>
                  <a:pt x="190500" y="1038225"/>
                  <a:pt x="876300" y="1143000"/>
                  <a:pt x="1676400" y="2162175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E1E7DE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EE52B5-437E-4185-83D8-F21B81D51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0"/>
            <a:ext cx="1619250" cy="2381250"/>
          </a:xfrm>
          <a:custGeom xmlns:a="http://schemas.openxmlformats.org/drawingml/2006/main">
            <a:pathLst>
              <a:path w="1619250" h="2381250">
                <a:moveTo>
                  <a:pt x="0" y="0"/>
                </a:moveTo>
                <a:cubicBezTo>
                  <a:pt x="190500" y="1095375"/>
                  <a:pt x="857250" y="1238250"/>
                  <a:pt x="1524000" y="2286000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E1E7DE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B7E085D-6CF3-41EF-83CC-5DC5CEDC4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87050" y="0"/>
            <a:ext cx="1466850" cy="2505075"/>
          </a:xfrm>
          <a:custGeom xmlns:a="http://schemas.openxmlformats.org/drawingml/2006/main">
            <a:pathLst>
              <a:path w="1466850" h="2505075">
                <a:moveTo>
                  <a:pt x="0" y="0"/>
                </a:moveTo>
                <a:cubicBezTo>
                  <a:pt x="190500" y="1152525"/>
                  <a:pt x="838200" y="1333500"/>
                  <a:pt x="1371600" y="2409825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E1E7DE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BB5BBE-5B79-4951-8221-B7A481EAC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89A62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A7EE415-76EE-47D0-824D-197E0A5A5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7675"/>
            <a:ext cx="10287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pPr>
            <a:r>
              <a: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rPr>
              <a:t>恢复流程与取消处理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C822E06-06C2-4A79-9C07-BD3B27A30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00150"/>
            <a:ext cx="11010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4DDD7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5DDCB3C-D300-48D9-B3C5-A9F00F0F9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00150"/>
            <a:ext cx="5429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B89A62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FF88D38-92D6-4BCF-A2EA-40195A0DA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71450"/>
            <a:ext cx="37814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defPPr>
            <a:lvl1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1pPr>
            <a:lvl2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2pPr>
            <a:lvl3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3pPr>
            <a:lvl4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4pPr>
            <a:lvl5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5pPr>
            <a:lvl6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6pPr>
            <a:lvl7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7pPr>
            <a:lvl8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8pPr>
            <a:lvl9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r">
              <a:lnSpc>
                <a:spcPct val="113000"/>
              </a:lnSpc>
              <a:buNone/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rPr>
              <a:t>02  设计与实现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94A3C06-7B8E-4117-98B6-76CA0354F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6353175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defPPr>
            <a:lvl1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1pPr>
            <a:lvl2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2pPr>
            <a:lvl3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3pPr>
            <a:lvl4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4pPr>
            <a:lvl5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5pPr>
            <a:lvl6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6pPr>
            <a:lvl7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7pPr>
            <a:lvl8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8pPr>
            <a:lvl9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r">
              <a:lnSpc>
                <a:spcPct val="113000"/>
              </a:lnSpc>
              <a:buNone/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pPr>
            <a:r>
              <a: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rPr>
              <a:t>07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B3CD5C4-687D-4550-861C-C6EBF8AD8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06175" y="6419850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rPr>
              <a:t>/ 11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B7399A2-63DB-497B-BA40-B055E6B03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16" y="1957983"/>
            <a:ext cx="261144" cy="205184"/>
          </a:xfrm>
          <a:prstGeom xmlns:a="http://schemas.openxmlformats.org/drawingml/2006/main" prst="roundRect">
            <a:avLst>
              <a:gd name="adj" fmla="val 37137"/>
            </a:avLst>
          </a:prstGeom>
          <a:noFill xmlns:a="http://schemas.openxmlformats.org/drawingml/2006/main"/>
          <a:ln xmlns:a="http://schemas.openxmlformats.org/drawingml/2006/main" w="21451">
            <a:solidFill>
              <a:srgbClr val="47776F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5FEE280-E3D7-46CB-A96D-D1391D776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875" y="1818084"/>
            <a:ext cx="149225" cy="195858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21451">
            <a:solidFill>
              <a:srgbClr val="47776F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51AADCE-01C1-4E80-BAB0-66CC6F87D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8" y="2032595"/>
            <a:ext cx="953" cy="55959"/>
          </a:xfrm>
          <a:custGeom xmlns:a="http://schemas.openxmlformats.org/drawingml/2006/main">
            <a:pathLst>
              <a:path w="953" h="55959">
                <a:moveTo>
                  <a:pt x="0" y="0"/>
                </a:moveTo>
                <a:lnTo>
                  <a:pt x="0" y="55959"/>
                </a:lnTo>
              </a:path>
            </a:pathLst>
          </a:custGeom>
          <a:noFill xmlns:a="http://schemas.openxmlformats.org/drawingml/2006/main"/>
          <a:ln xmlns:a="http://schemas.openxmlformats.org/drawingml/2006/main" w="21451">
            <a:solidFill>
              <a:srgbClr val="47776F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83CF6F8-A68A-46E9-A4FA-C538EFFA5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6825" y="1743075"/>
            <a:ext cx="685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700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sz="2700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sz="2700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sz="2700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sz="2700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sz="2700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sz="2700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sz="2700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sz="2700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sz="2700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700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pPr>
            <a:r>
              <a:rPr sz="2700" b="0">
                <a:solidFill>
                  <a:srgbClr val="6F807D"/>
                </a:solidFill>
                <a:latin typeface="Avenir Next"/>
                <a:ea typeface="Avenir Next"/>
                <a:cs typeface="Avenir Next"/>
              </a:rPr>
              <a:t>01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FAFA363-028D-4705-895C-35B5BC2E7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571750"/>
            <a:ext cx="2571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rPr>
              <a:t>认证与校验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1A0A01B-3870-4B0B-A0DE-F44291BBA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152775"/>
            <a:ext cx="25527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rPr>
              <a:t>确认密码和归档完整性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45A1BA3-523B-4787-9C92-847FE1C97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1981200"/>
            <a:ext cx="990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4DDD7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5E054D1-A538-4B72-98F3-73CD5CEE7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3613" y="1818084"/>
            <a:ext cx="298450" cy="345083"/>
          </a:xfrm>
          <a:prstGeom xmlns:a="http://schemas.openxmlformats.org/drawingml/2006/main" prst="roundRect">
            <a:avLst>
              <a:gd name="adj" fmla="val 25532"/>
            </a:avLst>
          </a:prstGeom>
          <a:noFill xmlns:a="http://schemas.openxmlformats.org/drawingml/2006/main"/>
          <a:ln xmlns:a="http://schemas.openxmlformats.org/drawingml/2006/main" w="21451">
            <a:solidFill>
              <a:srgbClr val="47776F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1EC9E33-92BA-4A36-A0BE-CBF3BF973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6306" y="1799431"/>
            <a:ext cx="373063" cy="839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21451">
            <a:solidFill>
              <a:srgbClr val="47776F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50A6EFA-5CA6-4227-84C4-799A7001C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6205" y="1985963"/>
            <a:ext cx="93266" cy="953"/>
          </a:xfrm>
          <a:custGeom xmlns:a="http://schemas.openxmlformats.org/drawingml/2006/main">
            <a:pathLst>
              <a:path w="93266" h="953">
                <a:moveTo>
                  <a:pt x="0" y="0"/>
                </a:moveTo>
                <a:lnTo>
                  <a:pt x="93266" y="0"/>
                </a:lnTo>
              </a:path>
            </a:pathLst>
          </a:custGeom>
          <a:noFill xmlns:a="http://schemas.openxmlformats.org/drawingml/2006/main"/>
          <a:ln xmlns:a="http://schemas.openxmlformats.org/drawingml/2006/main" w="21451">
            <a:solidFill>
              <a:srgbClr val="47776F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A7BC1D2-0183-4763-BF25-1D9A9A55B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6205" y="2023269"/>
            <a:ext cx="93266" cy="953"/>
          </a:xfrm>
          <a:custGeom xmlns:a="http://schemas.openxmlformats.org/drawingml/2006/main">
            <a:pathLst>
              <a:path w="93266" h="953">
                <a:moveTo>
                  <a:pt x="0" y="0"/>
                </a:moveTo>
                <a:lnTo>
                  <a:pt x="93266" y="0"/>
                </a:lnTo>
              </a:path>
            </a:pathLst>
          </a:custGeom>
          <a:noFill xmlns:a="http://schemas.openxmlformats.org/drawingml/2006/main"/>
          <a:ln xmlns:a="http://schemas.openxmlformats.org/drawingml/2006/main" w="21451">
            <a:solidFill>
              <a:srgbClr val="47776F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8E00157-E316-47D3-BC84-945FB72F5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7175" y="1743075"/>
            <a:ext cx="685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700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sz="2700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sz="2700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sz="2700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sz="2700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sz="2700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sz="2700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sz="2700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sz="2700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sz="2700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700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pPr>
            <a:r>
              <a:rPr sz="2700" b="0">
                <a:solidFill>
                  <a:srgbClr val="6F807D"/>
                </a:solidFill>
                <a:latin typeface="Avenir Next"/>
                <a:ea typeface="Avenir Next"/>
                <a:cs typeface="Avenir Next"/>
              </a:rPr>
              <a:t>02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64E0688-C5FC-42CC-B5CA-324628FDA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571750"/>
            <a:ext cx="2571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rPr>
              <a:t>暂存目录解包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E892B3E-062C-424B-969D-91C0C5873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152775"/>
            <a:ext cx="25527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rPr>
              <a:t>在独立目录写入数据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1B778D7-3DD5-4FAE-8B28-5348D1BB1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1981200"/>
            <a:ext cx="990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4DDD7"/>
            </a:solidFill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A5914A7-D935-4F56-BCC4-FA2625A66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2616" y="1799431"/>
            <a:ext cx="270470" cy="3730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21451">
            <a:solidFill>
              <a:srgbClr val="47776F"/>
            </a:solidFill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305234D-6FC9-408A-BEB2-AD532432C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7902" y="1902023"/>
            <a:ext cx="130572" cy="953"/>
          </a:xfrm>
          <a:custGeom xmlns:a="http://schemas.openxmlformats.org/drawingml/2006/main">
            <a:pathLst>
              <a:path w="130572" h="953">
                <a:moveTo>
                  <a:pt x="0" y="0"/>
                </a:moveTo>
                <a:lnTo>
                  <a:pt x="130572" y="0"/>
                </a:lnTo>
              </a:path>
            </a:pathLst>
          </a:custGeom>
          <a:noFill xmlns:a="http://schemas.openxmlformats.org/drawingml/2006/main"/>
          <a:ln xmlns:a="http://schemas.openxmlformats.org/drawingml/2006/main" w="21451">
            <a:solidFill>
              <a:srgbClr val="47776F"/>
            </a:solidFill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E67E4AB-0390-41AD-8C56-29BFE7C17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7902" y="1976636"/>
            <a:ext cx="130572" cy="953"/>
          </a:xfrm>
          <a:custGeom xmlns:a="http://schemas.openxmlformats.org/drawingml/2006/main">
            <a:pathLst>
              <a:path w="130572" h="953">
                <a:moveTo>
                  <a:pt x="0" y="0"/>
                </a:moveTo>
                <a:lnTo>
                  <a:pt x="130572" y="0"/>
                </a:lnTo>
              </a:path>
            </a:pathLst>
          </a:custGeom>
          <a:noFill xmlns:a="http://schemas.openxmlformats.org/drawingml/2006/main"/>
          <a:ln xmlns:a="http://schemas.openxmlformats.org/drawingml/2006/main" w="21451">
            <a:solidFill>
              <a:srgbClr val="47776F"/>
            </a:solidFill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6244853-5388-4FB1-9AF5-C276E5237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7902" y="2051248"/>
            <a:ext cx="83939" cy="953"/>
          </a:xfrm>
          <a:custGeom xmlns:a="http://schemas.openxmlformats.org/drawingml/2006/main">
            <a:pathLst>
              <a:path w="83939" h="953">
                <a:moveTo>
                  <a:pt x="0" y="0"/>
                </a:moveTo>
                <a:lnTo>
                  <a:pt x="83939" y="0"/>
                </a:lnTo>
              </a:path>
            </a:pathLst>
          </a:custGeom>
          <a:noFill xmlns:a="http://schemas.openxmlformats.org/drawingml/2006/main"/>
          <a:ln xmlns:a="http://schemas.openxmlformats.org/drawingml/2006/main" w="21451">
            <a:solidFill>
              <a:srgbClr val="47776F"/>
            </a:solidFill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14E439F-D6D5-4D40-9F78-DB14EC891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7525" y="1743075"/>
            <a:ext cx="685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700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sz="2700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sz="2700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sz="2700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sz="2700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sz="2700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sz="2700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sz="2700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sz="2700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sz="2700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700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pPr>
            <a:r>
              <a:rPr sz="2700" b="0">
                <a:solidFill>
                  <a:srgbClr val="6F807D"/>
                </a:solidFill>
                <a:latin typeface="Avenir Next"/>
                <a:ea typeface="Avenir Next"/>
                <a:cs typeface="Avenir Next"/>
              </a:rPr>
              <a:t>03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D339837-5AB0-425C-8CDF-8188BBEF5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571750"/>
            <a:ext cx="2571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rPr>
              <a:t>恢复元数据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A888D54-E80E-4C23-A2A1-44D3CC0F5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152775"/>
            <a:ext cx="25527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rPr>
              <a:t>恢复权限、时间与链接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A411A41-BBB7-4755-A425-B779E51FE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1981200"/>
            <a:ext cx="990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4DDD7"/>
            </a:solidFill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2F0D703-7D61-48F5-ACFF-830C1E651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006" y="1799431"/>
            <a:ext cx="373063" cy="373063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1451">
            <a:solidFill>
              <a:srgbClr val="B96C43"/>
            </a:solidFill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83A3EDE-99FB-438E-A112-A1678C055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0945" y="1985963"/>
            <a:ext cx="74613" cy="74613"/>
          </a:xfrm>
          <a:custGeom xmlns:a="http://schemas.openxmlformats.org/drawingml/2006/main">
            <a:pathLst>
              <a:path w="74613" h="74613">
                <a:moveTo>
                  <a:pt x="0" y="0"/>
                </a:moveTo>
                <a:lnTo>
                  <a:pt x="74613" y="74613"/>
                </a:lnTo>
              </a:path>
            </a:pathLst>
          </a:custGeom>
          <a:noFill xmlns:a="http://schemas.openxmlformats.org/drawingml/2006/main"/>
          <a:ln xmlns:a="http://schemas.openxmlformats.org/drawingml/2006/main" w="21451">
            <a:solidFill>
              <a:srgbClr val="B96C43"/>
            </a:solidFill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A1E6FF8-EC6D-47F9-BC2A-63F897F10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5558" y="1911350"/>
            <a:ext cx="130572" cy="149225"/>
          </a:xfrm>
          <a:custGeom xmlns:a="http://schemas.openxmlformats.org/drawingml/2006/main">
            <a:pathLst>
              <a:path w="130572" h="149225">
                <a:moveTo>
                  <a:pt x="0" y="149225"/>
                </a:moveTo>
                <a:lnTo>
                  <a:pt x="130572" y="0"/>
                </a:lnTo>
              </a:path>
            </a:pathLst>
          </a:custGeom>
          <a:noFill xmlns:a="http://schemas.openxmlformats.org/drawingml/2006/main"/>
          <a:ln xmlns:a="http://schemas.openxmlformats.org/drawingml/2006/main" w="21451">
            <a:solidFill>
              <a:srgbClr val="B96C43"/>
            </a:solidFill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B2577F8-F15E-4D53-B12A-21E0D1F7A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1743075"/>
            <a:ext cx="685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700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sz="2700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sz="2700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sz="2700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sz="2700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sz="2700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sz="2700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sz="2700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sz="2700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sz="2700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700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pPr>
            <a:r>
              <a:rPr sz="2700" b="0">
                <a:solidFill>
                  <a:srgbClr val="6F807D"/>
                </a:solidFill>
                <a:latin typeface="Avenir Next"/>
                <a:ea typeface="Avenir Next"/>
                <a:cs typeface="Avenir Next"/>
              </a:rPr>
              <a:t>04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218BC60-7E06-49D1-92D8-43DCB0FBE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571750"/>
            <a:ext cx="2571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rPr>
              <a:t>发布新目录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9C51E7F-D3FB-480F-B49F-72BC94301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152775"/>
            <a:ext cx="25527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rPr>
              <a:t>完整结果一次性可见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C617D7B-5E83-4F9B-A2C1-E2867CB0E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76700"/>
            <a:ext cx="1095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4DDD7"/>
            </a:solidFill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2FBF557A-3DEB-43A3-9217-40B5FC33C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769" y="4556919"/>
            <a:ext cx="392113" cy="392113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3733">
            <a:solidFill>
              <a:srgbClr val="B96C43"/>
            </a:solidFill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D0E7F55-FEBB-4661-AAF9-89DD3F7CD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594" y="4680744"/>
            <a:ext cx="144463" cy="1444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23733">
            <a:solidFill>
              <a:srgbClr val="B96C43"/>
            </a:solidFill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1BEAEAE-72D2-4027-8BD3-6697F0246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486275"/>
            <a:ext cx="10191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17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217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217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217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217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217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217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217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217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217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17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pPr>
            <a:r>
              <a:rPr sz="2175" b="1">
                <a:solidFill>
                  <a:srgbClr val="243A40"/>
                </a:solidFill>
                <a:latin typeface="PingFang SC"/>
                <a:ea typeface="PingFang SC"/>
                <a:cs typeface="PingFang SC"/>
              </a:rPr>
              <a:t>取消请求进入各处理阶段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79F5FE68-EF29-4E48-A4B4-508D8027D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5038725"/>
            <a:ext cx="95250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8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8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8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8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8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8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8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8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8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6F807D"/>
                </a:solidFill>
                <a:latin typeface="PingFang SC"/>
                <a:ea typeface="PingFang SC"/>
                <a:cs typeface="PingFang SC"/>
              </a:rPr>
              <a:t>扫描、分块读写、元数据与发布前均检查取消标志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7E48A2AF-8067-4D4E-8FF5-0CEF9020F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5657850"/>
            <a:ext cx="4762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9A62"/>
          </a:solidFill>
          <a:ln xmlns:a="http://schemas.openxmlformats.org/drawingml/2006/main" w="0">
            <a:noFill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9107661-B040-46F1-A1B2-9E8E9FC06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" y="5676900"/>
            <a:ext cx="98107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95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95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95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95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95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95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95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95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95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95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95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pPr>
            <a:r>
              <a:rPr sz="1950" b="1">
                <a:solidFill>
                  <a:srgbClr val="47776F"/>
                </a:solidFill>
                <a:latin typeface="PingFang SC"/>
                <a:ea typeface="PingFang SC"/>
                <a:cs typeface="PingFang SC"/>
              </a:rPr>
              <a:t>清理未完成暂存，保留已发布的备份</a:t>
            </a:r>
          </a:p>
        </p:txBody>
      </p:sp>
    </p:spTree>
    <p:extLst>
      <p:ext uri="{BB962C8B-B14F-4D97-AF65-F5344CB8AC3E}">
        <p14:creationId xmlns:p14="http://schemas.microsoft.com/office/powerpoint/2010/main" val="37909472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66076D0-5EF9-4006-8AFF-025D25A18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0"/>
            <a:ext cx="2381250" cy="1762125"/>
          </a:xfrm>
          <a:custGeom xmlns:a="http://schemas.openxmlformats.org/drawingml/2006/main">
            <a:pathLst>
              <a:path w="2381250" h="1762125">
                <a:moveTo>
                  <a:pt x="0" y="0"/>
                </a:moveTo>
                <a:cubicBezTo>
                  <a:pt x="190500" y="809625"/>
                  <a:pt x="952500" y="762000"/>
                  <a:pt x="2286000" y="1666875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E1E7DE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95CE5F-67C3-44F7-BD43-F35F56633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0"/>
            <a:ext cx="2228850" cy="1885950"/>
          </a:xfrm>
          <a:custGeom xmlns:a="http://schemas.openxmlformats.org/drawingml/2006/main">
            <a:pathLst>
              <a:path w="2228850" h="1885950">
                <a:moveTo>
                  <a:pt x="0" y="0"/>
                </a:moveTo>
                <a:cubicBezTo>
                  <a:pt x="190500" y="866775"/>
                  <a:pt x="933450" y="857250"/>
                  <a:pt x="2133600" y="1790700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E1E7DE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C5CEAC-E754-40ED-9BF5-25E50156B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0"/>
            <a:ext cx="2076450" cy="2009775"/>
          </a:xfrm>
          <a:custGeom xmlns:a="http://schemas.openxmlformats.org/drawingml/2006/main">
            <a:pathLst>
              <a:path w="2076450" h="2009775">
                <a:moveTo>
                  <a:pt x="0" y="0"/>
                </a:moveTo>
                <a:cubicBezTo>
                  <a:pt x="190500" y="923925"/>
                  <a:pt x="914400" y="952500"/>
                  <a:pt x="1981200" y="1914525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E1E7DE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47AC0E-382C-4FB9-90B8-6A678CFC0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0"/>
            <a:ext cx="1924050" cy="2133600"/>
          </a:xfrm>
          <a:custGeom xmlns:a="http://schemas.openxmlformats.org/drawingml/2006/main">
            <a:pathLst>
              <a:path w="1924050" h="2133600">
                <a:moveTo>
                  <a:pt x="0" y="0"/>
                </a:moveTo>
                <a:cubicBezTo>
                  <a:pt x="190500" y="981075"/>
                  <a:pt x="895350" y="1047750"/>
                  <a:pt x="1828800" y="2038350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E1E7DE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1D0AC2-7735-4764-B66E-C2EBE4314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0"/>
            <a:ext cx="1771650" cy="2257425"/>
          </a:xfrm>
          <a:custGeom xmlns:a="http://schemas.openxmlformats.org/drawingml/2006/main">
            <a:pathLst>
              <a:path w="1771650" h="2257425">
                <a:moveTo>
                  <a:pt x="0" y="0"/>
                </a:moveTo>
                <a:cubicBezTo>
                  <a:pt x="190500" y="1038225"/>
                  <a:pt x="876300" y="1143000"/>
                  <a:pt x="1676400" y="2162175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E1E7DE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9E833ED-325F-408E-98EE-0021A697F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0"/>
            <a:ext cx="1619250" cy="2381250"/>
          </a:xfrm>
          <a:custGeom xmlns:a="http://schemas.openxmlformats.org/drawingml/2006/main">
            <a:pathLst>
              <a:path w="1619250" h="2381250">
                <a:moveTo>
                  <a:pt x="0" y="0"/>
                </a:moveTo>
                <a:cubicBezTo>
                  <a:pt x="190500" y="1095375"/>
                  <a:pt x="857250" y="1238250"/>
                  <a:pt x="1524000" y="2286000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E1E7DE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96AB12-3236-44B0-91B4-A87F521FA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87050" y="0"/>
            <a:ext cx="1466850" cy="2505075"/>
          </a:xfrm>
          <a:custGeom xmlns:a="http://schemas.openxmlformats.org/drawingml/2006/main">
            <a:pathLst>
              <a:path w="1466850" h="2505075">
                <a:moveTo>
                  <a:pt x="0" y="0"/>
                </a:moveTo>
                <a:cubicBezTo>
                  <a:pt x="190500" y="1152525"/>
                  <a:pt x="838200" y="1333500"/>
                  <a:pt x="1371600" y="2409825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E1E7DE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6F60DE4-A81D-42F1-A05B-9E8BD7395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89A62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3B2BF5-2BCF-43F7-83D1-C57286687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7675"/>
            <a:ext cx="10287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pPr>
            <a:r>
              <a: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rPr>
              <a:t>分层测试与桌面验收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9A1D553-9361-46AC-A0DB-F0AB4C2AE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00150"/>
            <a:ext cx="11010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4DDD7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F21BE9-8B37-4684-8AFE-855E4C438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00150"/>
            <a:ext cx="5429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B89A62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C457B2A-AD9D-4FAC-92C9-B2D4FD088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71450"/>
            <a:ext cx="37814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defPPr>
            <a:lvl1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1pPr>
            <a:lvl2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2pPr>
            <a:lvl3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3pPr>
            <a:lvl4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4pPr>
            <a:lvl5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5pPr>
            <a:lvl6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6pPr>
            <a:lvl7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7pPr>
            <a:lvl8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8pPr>
            <a:lvl9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r">
              <a:lnSpc>
                <a:spcPct val="113000"/>
              </a:lnSpc>
              <a:buNone/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rPr>
              <a:t>03  验证与协作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504EB66-FEA3-4B4D-807F-59DA40820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6353175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defPPr>
            <a:lvl1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1pPr>
            <a:lvl2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2pPr>
            <a:lvl3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3pPr>
            <a:lvl4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4pPr>
            <a:lvl5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5pPr>
            <a:lvl6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6pPr>
            <a:lvl7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7pPr>
            <a:lvl8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8pPr>
            <a:lvl9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r">
              <a:lnSpc>
                <a:spcPct val="113000"/>
              </a:lnSpc>
              <a:buNone/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pPr>
            <a:r>
              <a: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rPr>
              <a:t>08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081DADC-D8F4-48C5-863F-BA47D1048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06175" y="6419850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rPr>
              <a:t>/ 11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E83957F-3538-4999-8B4D-BDB75C763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19250"/>
            <a:ext cx="3857625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8175" b="1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sz="8175" b="1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sz="8175" b="1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sz="8175" b="1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sz="8175" b="1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sz="8175" b="1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sz="8175" b="1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sz="8175" b="1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sz="8175" b="1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sz="8175" b="1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8175" b="1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pPr>
            <a:r>
              <a:rPr sz="8175" b="1">
                <a:solidFill>
                  <a:srgbClr val="47776F"/>
                </a:solidFill>
                <a:latin typeface="Avenir Next"/>
                <a:ea typeface="Avenir Next"/>
                <a:cs typeface="Avenir Next"/>
              </a:rPr>
              <a:t>97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5273166-9947-4E00-96AD-6DA3AD513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3067050"/>
            <a:ext cx="44577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17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217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217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217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217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217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217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217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217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217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17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pPr>
            <a:r>
              <a:rPr sz="2175" b="1">
                <a:solidFill>
                  <a:srgbClr val="243A40"/>
                </a:solidFill>
                <a:latin typeface="PingFang SC"/>
                <a:ea typeface="PingFang SC"/>
                <a:cs typeface="PingFang SC"/>
              </a:rPr>
              <a:t>项命名自动测试通过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BEF984C-525B-4331-8046-242E2B458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00475"/>
            <a:ext cx="44767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8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8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8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8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8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8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8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8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8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6F807D"/>
                </a:solidFill>
                <a:latin typeface="PingFang SC"/>
                <a:ea typeface="PingFang SC"/>
                <a:cs typeface="PingFang SC"/>
              </a:rPr>
              <a:t>ASan / UBSan 复测通过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8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6F807D"/>
                </a:solidFill>
                <a:latin typeface="PingFang SC"/>
                <a:ea typeface="PingFang SC"/>
                <a:cs typeface="PingFang SC"/>
              </a:rPr>
              <a:t>新旧版本双向恢复通过</a:t>
            </a:r>
          </a:p>
        </p:txBody>
      </p:sp>
      <p:graphicFrame>
        <p:nvGraphicFrame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3E67BFA-072C-4226-9B41-CDD8D9D39563}"/>
              </a:ext>
            </a:extLst>
          </p:cNvPr>
          <p:cNvGraphicFramePr/>
          <p:nvPr/>
        </p:nvGraphicFramePr>
        <p:xfrm>
          <a:off xmlns:a="http://schemas.openxmlformats.org/drawingml/2006/main" x="5800725" y="1714500"/>
          <a:ext xmlns:a="http://schemas.openxmlformats.org/drawingml/2006/main" cx="5753100" cy="28479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305300"/>
                <a:gridCol w="1447800"/>
              </a:tblGrid>
              <a:tr h="485775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47776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测试层次</a:t>
                      </a:r>
                    </a:p>
                  </a:txBody>
                  <a:tcPr marL="171450" marR="171450" marT="95250" marB="95250" anchor="ctr">
                    <a:lnL w="6191">
                      <a:solidFill>
                        <a:srgbClr val="D4DDD7"/>
                      </a:solidFill>
                    </a:lnL>
                    <a:lnR w="6191">
                      <a:solidFill>
                        <a:srgbClr val="D4DDD7"/>
                      </a:solidFill>
                    </a:lnR>
                    <a:lnT w="6191">
                      <a:solidFill>
                        <a:srgbClr val="D4DDD7"/>
                      </a:solidFill>
                    </a:lnT>
                    <a:lnB w="6191">
                      <a:solidFill>
                        <a:srgbClr val="D4DDD7"/>
                      </a:solidFill>
                    </a:lnB>
                    <a:solidFill>
                      <a:srgbClr val="E7ED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47776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用例</a:t>
                      </a:r>
                    </a:p>
                  </a:txBody>
                  <a:tcPr marL="171450" marR="171450" marT="95250" marB="95250" anchor="ctr">
                    <a:lnR w="6191">
                      <a:solidFill>
                        <a:srgbClr val="D4DDD7"/>
                      </a:solidFill>
                    </a:lnR>
                    <a:lnT w="6191">
                      <a:solidFill>
                        <a:srgbClr val="D4DDD7"/>
                      </a:solidFill>
                    </a:lnT>
                    <a:lnB w="6191">
                      <a:solidFill>
                        <a:srgbClr val="D4DDD7"/>
                      </a:solidFill>
                    </a:lnB>
                    <a:solidFill>
                      <a:srgbClr val="E7EDE6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43A40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单元测试</a:t>
                      </a:r>
                    </a:p>
                  </a:txBody>
                  <a:tcPr marL="171450" marR="171450" marT="95250" marB="95250" anchor="ctr">
                    <a:lnL w="6191">
                      <a:solidFill>
                        <a:srgbClr val="D4DDD7"/>
                      </a:solidFill>
                    </a:lnL>
                    <a:lnR w="6191">
                      <a:solidFill>
                        <a:srgbClr val="D4DDD7"/>
                      </a:solidFill>
                    </a:lnR>
                    <a:lnB w="6191">
                      <a:solidFill>
                        <a:srgbClr val="D4DDD7"/>
                      </a:solidFill>
                    </a:lnB>
                    <a:solidFill>
                      <a:srgbClr val="F6F5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43A40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52</a:t>
                      </a:r>
                    </a:p>
                  </a:txBody>
                  <a:tcPr marL="171450" marR="171450" marT="95250" marB="95250" anchor="ctr">
                    <a:lnR w="6191">
                      <a:solidFill>
                        <a:srgbClr val="D4DDD7"/>
                      </a:solidFill>
                    </a:lnR>
                    <a:lnB w="6191">
                      <a:solidFill>
                        <a:srgbClr val="D4DDD7"/>
                      </a:solidFill>
                    </a:lnB>
                    <a:solidFill>
                      <a:srgbClr val="F6F5F0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43A40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CLI 集成</a:t>
                      </a:r>
                    </a:p>
                  </a:txBody>
                  <a:tcPr marL="171450" marR="171450" marT="95250" marB="95250" anchor="ctr">
                    <a:lnL w="6191">
                      <a:solidFill>
                        <a:srgbClr val="D4DDD7"/>
                      </a:solidFill>
                    </a:lnL>
                    <a:lnR w="6191">
                      <a:solidFill>
                        <a:srgbClr val="D4DDD7"/>
                      </a:solidFill>
                    </a:lnR>
                    <a:lnB w="6191">
                      <a:solidFill>
                        <a:srgbClr val="D4DDD7"/>
                      </a:solidFill>
                    </a:lnB>
                    <a:solidFill>
                      <a:srgbClr val="F6F5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43A40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21</a:t>
                      </a:r>
                    </a:p>
                  </a:txBody>
                  <a:tcPr marL="171450" marR="171450" marT="95250" marB="95250" anchor="ctr">
                    <a:lnR w="6191">
                      <a:solidFill>
                        <a:srgbClr val="D4DDD7"/>
                      </a:solidFill>
                    </a:lnR>
                    <a:lnB w="6191">
                      <a:solidFill>
                        <a:srgbClr val="D4DDD7"/>
                      </a:solidFill>
                    </a:lnB>
                    <a:solidFill>
                      <a:srgbClr val="F6F5F0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43A40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异常归档与并发</a:t>
                      </a:r>
                    </a:p>
                  </a:txBody>
                  <a:tcPr marL="171450" marR="171450" marT="95250" marB="95250" anchor="ctr">
                    <a:lnL w="6191">
                      <a:solidFill>
                        <a:srgbClr val="D4DDD7"/>
                      </a:solidFill>
                    </a:lnL>
                    <a:lnR w="6191">
                      <a:solidFill>
                        <a:srgbClr val="D4DDD7"/>
                      </a:solidFill>
                    </a:lnR>
                    <a:lnB w="6191">
                      <a:solidFill>
                        <a:srgbClr val="D4DDD7"/>
                      </a:solidFill>
                    </a:lnB>
                    <a:solidFill>
                      <a:srgbClr val="F6F5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43A40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18</a:t>
                      </a:r>
                    </a:p>
                  </a:txBody>
                  <a:tcPr marL="171450" marR="171450" marT="95250" marB="95250" anchor="ctr">
                    <a:lnR w="6191">
                      <a:solidFill>
                        <a:srgbClr val="D4DDD7"/>
                      </a:solidFill>
                    </a:lnR>
                    <a:lnB w="6191">
                      <a:solidFill>
                        <a:srgbClr val="D4DDD7"/>
                      </a:solidFill>
                    </a:lnB>
                    <a:solidFill>
                      <a:srgbClr val="F6F5F0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43A40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工作流回归</a:t>
                      </a:r>
                    </a:p>
                  </a:txBody>
                  <a:tcPr marL="171450" marR="171450" marT="95250" marB="95250" anchor="ctr">
                    <a:lnL w="6191">
                      <a:solidFill>
                        <a:srgbClr val="D4DDD7"/>
                      </a:solidFill>
                    </a:lnL>
                    <a:lnR w="6191">
                      <a:solidFill>
                        <a:srgbClr val="D4DDD7"/>
                      </a:solidFill>
                    </a:lnR>
                    <a:lnB w="6191">
                      <a:solidFill>
                        <a:srgbClr val="D4DDD7"/>
                      </a:solidFill>
                    </a:lnB>
                    <a:solidFill>
                      <a:srgbClr val="F6F5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43A40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6</a:t>
                      </a:r>
                    </a:p>
                  </a:txBody>
                  <a:tcPr marL="171450" marR="171450" marT="95250" marB="95250" anchor="ctr">
                    <a:lnR w="6191">
                      <a:solidFill>
                        <a:srgbClr val="D4DDD7"/>
                      </a:solidFill>
                    </a:lnR>
                    <a:lnB w="6191">
                      <a:solidFill>
                        <a:srgbClr val="D4DDD7"/>
                      </a:solidFill>
                    </a:lnB>
                    <a:solidFill>
                      <a:srgbClr val="F6F5F0"/>
                    </a:solidFill>
                  </a:tcPr>
                </a:tc>
              </a:tr>
            </a:tbl>
          </a:graphicData>
        </a:graphic>
      </p:graphicFrame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4C48D97-AD12-4F06-A361-8B9176AAB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5257800"/>
            <a:ext cx="10934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4DDD7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1EE06E0-0B73-4E0C-AAE0-B3D9A8A80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5495925"/>
            <a:ext cx="10001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450" b="1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sz="3450" b="1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sz="3450" b="1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sz="3450" b="1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sz="3450" b="1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sz="3450" b="1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sz="3450" b="1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sz="3450" b="1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sz="3450" b="1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sz="3450" b="1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3450" b="1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pPr>
            <a:r>
              <a:rPr sz="3450" b="1">
                <a:solidFill>
                  <a:srgbClr val="47776F"/>
                </a:solidFill>
                <a:latin typeface="Avenir Next"/>
                <a:ea typeface="Avenir Next"/>
                <a:cs typeface="Avenir Next"/>
              </a:rPr>
              <a:t>53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7B5CD02-2008-4F22-BF20-19D2E6A52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5638800"/>
            <a:ext cx="2647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725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725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725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725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725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725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725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725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725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725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243A40"/>
                </a:solidFill>
                <a:latin typeface="PingFang SC"/>
                <a:ea typeface="PingFang SC"/>
                <a:cs typeface="PingFang SC"/>
              </a:rPr>
              <a:t>GUI 内部断言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CF6B8F0-86CE-44CC-AB15-C336E12CE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5495925"/>
            <a:ext cx="10001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450" b="1">
                <a:solidFill>
                  <a:srgbClr val="B96C43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sz="3450" b="1">
                <a:solidFill>
                  <a:srgbClr val="B96C43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sz="3450" b="1">
                <a:solidFill>
                  <a:srgbClr val="B96C43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sz="3450" b="1">
                <a:solidFill>
                  <a:srgbClr val="B96C43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sz="3450" b="1">
                <a:solidFill>
                  <a:srgbClr val="B96C43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sz="3450" b="1">
                <a:solidFill>
                  <a:srgbClr val="B96C43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sz="3450" b="1">
                <a:solidFill>
                  <a:srgbClr val="B96C43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sz="3450" b="1">
                <a:solidFill>
                  <a:srgbClr val="B96C43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sz="3450" b="1">
                <a:solidFill>
                  <a:srgbClr val="B96C43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sz="3450" b="1">
                <a:solidFill>
                  <a:srgbClr val="B96C43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3450" b="1">
                <a:solidFill>
                  <a:srgbClr val="B96C43"/>
                </a:solidFill>
                <a:latin typeface="Avenir Next"/>
                <a:ea typeface="Avenir Next"/>
                <a:cs typeface="Avenir Next"/>
              </a:defRPr>
            </a:pPr>
            <a:r>
              <a:rPr sz="3450" b="1">
                <a:solidFill>
                  <a:srgbClr val="B96C43"/>
                </a:solidFill>
                <a:latin typeface="Avenir Next"/>
                <a:ea typeface="Avenir Next"/>
                <a:cs typeface="Avenir Next"/>
              </a:rPr>
              <a:t>12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ABAB66C-96FB-4BAE-9194-EBD0359D5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5638800"/>
            <a:ext cx="2647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725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725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725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725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725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725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725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725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725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725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243A40"/>
                </a:solidFill>
                <a:latin typeface="PingFang SC"/>
                <a:ea typeface="PingFang SC"/>
                <a:cs typeface="PingFang SC"/>
              </a:rPr>
              <a:t>桌面操作场景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0B325B7-988A-4B43-B5A1-B0A71B987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5495925"/>
            <a:ext cx="10001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450" b="1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sz="3450" b="1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sz="3450" b="1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sz="3450" b="1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sz="3450" b="1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sz="3450" b="1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sz="3450" b="1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sz="3450" b="1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sz="3450" b="1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sz="3450" b="1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3450" b="1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pPr>
            <a:r>
              <a:rPr sz="3450" b="1">
                <a:solidFill>
                  <a:srgbClr val="47776F"/>
                </a:solidFill>
                <a:latin typeface="Avenir Next"/>
                <a:ea typeface="Avenir Next"/>
                <a:cs typeface="Avenir Next"/>
              </a:rPr>
              <a:t>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BCD5BC4-E708-4775-B87E-030C4931C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5638800"/>
            <a:ext cx="2647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725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725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725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725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725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725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725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725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725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725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243A40"/>
                </a:solidFill>
                <a:latin typeface="PingFang SC"/>
                <a:ea typeface="PingFang SC"/>
                <a:cs typeface="PingFang SC"/>
              </a:rPr>
              <a:t>新旧版恢复组合</a:t>
            </a:r>
          </a:p>
        </p:txBody>
      </p:sp>
    </p:spTree>
    <p:extLst>
      <p:ext uri="{BB962C8B-B14F-4D97-AF65-F5344CB8AC3E}">
        <p14:creationId xmlns:p14="http://schemas.microsoft.com/office/powerpoint/2010/main" val="1019806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6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A5E0A58-6384-4600-9573-4D16C4D03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0"/>
            <a:ext cx="2381250" cy="1762125"/>
          </a:xfrm>
          <a:custGeom xmlns:a="http://schemas.openxmlformats.org/drawingml/2006/main">
            <a:pathLst>
              <a:path w="2381250" h="1762125">
                <a:moveTo>
                  <a:pt x="0" y="0"/>
                </a:moveTo>
                <a:cubicBezTo>
                  <a:pt x="190500" y="809625"/>
                  <a:pt x="952500" y="762000"/>
                  <a:pt x="2286000" y="1666875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E1E7DE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A7CC1B2-0871-460D-95C9-C06E45451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0"/>
            <a:ext cx="2228850" cy="1885950"/>
          </a:xfrm>
          <a:custGeom xmlns:a="http://schemas.openxmlformats.org/drawingml/2006/main">
            <a:pathLst>
              <a:path w="2228850" h="1885950">
                <a:moveTo>
                  <a:pt x="0" y="0"/>
                </a:moveTo>
                <a:cubicBezTo>
                  <a:pt x="190500" y="866775"/>
                  <a:pt x="933450" y="857250"/>
                  <a:pt x="2133600" y="1790700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E1E7DE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A551DA-0ECE-4C2A-8179-C7752CAFA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0"/>
            <a:ext cx="2076450" cy="2009775"/>
          </a:xfrm>
          <a:custGeom xmlns:a="http://schemas.openxmlformats.org/drawingml/2006/main">
            <a:pathLst>
              <a:path w="2076450" h="2009775">
                <a:moveTo>
                  <a:pt x="0" y="0"/>
                </a:moveTo>
                <a:cubicBezTo>
                  <a:pt x="190500" y="923925"/>
                  <a:pt x="914400" y="952500"/>
                  <a:pt x="1981200" y="1914525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E1E7DE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10111B-671F-4A12-8439-965ACD24B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0"/>
            <a:ext cx="1924050" cy="2133600"/>
          </a:xfrm>
          <a:custGeom xmlns:a="http://schemas.openxmlformats.org/drawingml/2006/main">
            <a:pathLst>
              <a:path w="1924050" h="2133600">
                <a:moveTo>
                  <a:pt x="0" y="0"/>
                </a:moveTo>
                <a:cubicBezTo>
                  <a:pt x="190500" y="981075"/>
                  <a:pt x="895350" y="1047750"/>
                  <a:pt x="1828800" y="2038350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E1E7DE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6EC839-439B-40D4-8FD3-2B3F5FC15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0"/>
            <a:ext cx="1771650" cy="2257425"/>
          </a:xfrm>
          <a:custGeom xmlns:a="http://schemas.openxmlformats.org/drawingml/2006/main">
            <a:pathLst>
              <a:path w="1771650" h="2257425">
                <a:moveTo>
                  <a:pt x="0" y="0"/>
                </a:moveTo>
                <a:cubicBezTo>
                  <a:pt x="190500" y="1038225"/>
                  <a:pt x="876300" y="1143000"/>
                  <a:pt x="1676400" y="2162175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E1E7DE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049B67-25A4-4907-B80F-01FA26579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0"/>
            <a:ext cx="1619250" cy="2381250"/>
          </a:xfrm>
          <a:custGeom xmlns:a="http://schemas.openxmlformats.org/drawingml/2006/main">
            <a:pathLst>
              <a:path w="1619250" h="2381250">
                <a:moveTo>
                  <a:pt x="0" y="0"/>
                </a:moveTo>
                <a:cubicBezTo>
                  <a:pt x="190500" y="1095375"/>
                  <a:pt x="857250" y="1238250"/>
                  <a:pt x="1524000" y="2286000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E1E7DE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50C1DD-BCE7-4F58-8445-8201E5E09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87050" y="0"/>
            <a:ext cx="1466850" cy="2505075"/>
          </a:xfrm>
          <a:custGeom xmlns:a="http://schemas.openxmlformats.org/drawingml/2006/main">
            <a:pathLst>
              <a:path w="1466850" h="2505075">
                <a:moveTo>
                  <a:pt x="0" y="0"/>
                </a:moveTo>
                <a:cubicBezTo>
                  <a:pt x="190500" y="1152525"/>
                  <a:pt x="838200" y="1333500"/>
                  <a:pt x="1371600" y="2409825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E1E7DE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D44D05B-3C0F-406B-9B00-47AF66366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89A62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B48EA8A-4ED4-4A73-9DF6-07962DA67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7675"/>
            <a:ext cx="10287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pPr>
            <a:r>
              <a: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rPr>
              <a:t>模块分工与交叉复核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5325AAD-AAEE-43F2-A8FE-87D22F394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00150"/>
            <a:ext cx="11010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4DDD7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21D5772-D4C5-4725-83F2-E5CA328E2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00150"/>
            <a:ext cx="5429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B89A62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109E1C-B94D-4EFD-BFFF-3F8C214E4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71450"/>
            <a:ext cx="37814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defPPr>
            <a:lvl1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1pPr>
            <a:lvl2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2pPr>
            <a:lvl3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3pPr>
            <a:lvl4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4pPr>
            <a:lvl5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5pPr>
            <a:lvl6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6pPr>
            <a:lvl7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7pPr>
            <a:lvl8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8pPr>
            <a:lvl9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r">
              <a:lnSpc>
                <a:spcPct val="113000"/>
              </a:lnSpc>
              <a:buNone/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rPr>
              <a:t>03  验证与协作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F8368E5-E9F0-4ED5-BF6A-818889E5C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6353175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defPPr>
            <a:lvl1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1pPr>
            <a:lvl2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2pPr>
            <a:lvl3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3pPr>
            <a:lvl4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4pPr>
            <a:lvl5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5pPr>
            <a:lvl6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6pPr>
            <a:lvl7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7pPr>
            <a:lvl8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8pPr>
            <a:lvl9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r">
              <a:lnSpc>
                <a:spcPct val="113000"/>
              </a:lnSpc>
              <a:buNone/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pPr>
            <a:r>
              <a: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rPr>
              <a:t>09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6EA88F7-6923-46DF-8E9E-BDF571A91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06175" y="6419850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rPr>
              <a:t>/ 11</a:t>
            </a:r>
          </a:p>
        </p:txBody>
      </p:sp>
      <p:graphicFrame>
        <p:nvGraphicFrame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DEA0655-CA71-450D-99F3-F0365D134CEF}"/>
              </a:ext>
            </a:extLst>
          </p:cNvPr>
          <p:cNvGraphicFramePr/>
          <p:nvPr/>
        </p:nvGraphicFramePr>
        <p:xfrm>
          <a:off xmlns:a="http://schemas.openxmlformats.org/drawingml/2006/main" x="628650" y="1752600"/>
          <a:ext xmlns:a="http://schemas.openxmlformats.org/drawingml/2006/main" cx="10991850" cy="32099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781175"/>
                <a:gridCol w="5286375"/>
                <a:gridCol w="3924300"/>
              </a:tblGrid>
              <a:tr h="552450">
                <a:tc>
                  <a:txBody>
                    <a:bodyPr/>
                    <a:lstStyle/>
                    <a:p>
                      <a:pPr algn="l"/>
                      <a:r>
                        <a:rPr sz="1875" b="1">
                          <a:solidFill>
                            <a:srgbClr val="47776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成员</a:t>
                      </a:r>
                    </a:p>
                  </a:txBody>
                  <a:tcPr marL="171450" marR="171450" marT="95250" marB="95250" anchor="ctr">
                    <a:lnL w="6191">
                      <a:solidFill>
                        <a:srgbClr val="D4DDD7"/>
                      </a:solidFill>
                    </a:lnL>
                    <a:lnR w="6191">
                      <a:solidFill>
                        <a:srgbClr val="D4DDD7"/>
                      </a:solidFill>
                    </a:lnR>
                    <a:lnT w="6191">
                      <a:solidFill>
                        <a:srgbClr val="D4DDD7"/>
                      </a:solidFill>
                    </a:lnT>
                    <a:lnB w="6191">
                      <a:solidFill>
                        <a:srgbClr val="D4DDD7"/>
                      </a:solidFill>
                    </a:lnB>
                    <a:solidFill>
                      <a:srgbClr val="E7ED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75" b="1">
                          <a:solidFill>
                            <a:srgbClr val="47776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主责模块</a:t>
                      </a:r>
                    </a:p>
                  </a:txBody>
                  <a:tcPr marL="171450" marR="171450" marT="95250" marB="95250" anchor="ctr">
                    <a:lnR w="6191">
                      <a:solidFill>
                        <a:srgbClr val="D4DDD7"/>
                      </a:solidFill>
                    </a:lnR>
                    <a:lnT w="6191">
                      <a:solidFill>
                        <a:srgbClr val="D4DDD7"/>
                      </a:solidFill>
                    </a:lnT>
                    <a:lnB w="6191">
                      <a:solidFill>
                        <a:srgbClr val="D4DDD7"/>
                      </a:solidFill>
                    </a:lnB>
                    <a:solidFill>
                      <a:srgbClr val="E7ED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75" b="1">
                          <a:solidFill>
                            <a:srgbClr val="47776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配套工作</a:t>
                      </a:r>
                    </a:p>
                  </a:txBody>
                  <a:tcPr marL="171450" marR="171450" marT="95250" marB="95250" anchor="ctr">
                    <a:lnR w="6191">
                      <a:solidFill>
                        <a:srgbClr val="D4DDD7"/>
                      </a:solidFill>
                    </a:lnR>
                    <a:lnT w="6191">
                      <a:solidFill>
                        <a:srgbClr val="D4DDD7"/>
                      </a:solidFill>
                    </a:lnT>
                    <a:lnB w="6191">
                      <a:solidFill>
                        <a:srgbClr val="D4DDD7"/>
                      </a:solidFill>
                    </a:lnB>
                    <a:solidFill>
                      <a:srgbClr val="E7EDE6"/>
                    </a:solidFill>
                  </a:tcPr>
                </a:tc>
              </a:tr>
              <a:tr h="885825">
                <a:tc>
                  <a:txBody>
                    <a:bodyPr/>
                    <a:lstStyle/>
                    <a:p>
                      <a:pPr algn="l"/>
                      <a:r>
                        <a:rPr sz="1875" b="0">
                          <a:solidFill>
                            <a:srgbClr val="243A40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杨梦宇</a:t>
                      </a:r>
                    </a:p>
                  </a:txBody>
                  <a:tcPr marL="171450" marR="171450" marT="95250" marB="95250" anchor="ctr">
                    <a:lnL w="6191">
                      <a:solidFill>
                        <a:srgbClr val="D4DDD7"/>
                      </a:solidFill>
                    </a:lnL>
                    <a:lnR w="6191">
                      <a:solidFill>
                        <a:srgbClr val="D4DDD7"/>
                      </a:solidFill>
                    </a:lnR>
                    <a:lnB w="6191">
                      <a:solidFill>
                        <a:srgbClr val="D4DDD7"/>
                      </a:solidFill>
                    </a:lnB>
                    <a:solidFill>
                      <a:srgbClr val="F6F5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75" b="0">
                          <a:solidFill>
                            <a:srgbClr val="243A40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扫描、筛选、安全恢复、CLI</a:t>
                      </a:r>
                    </a:p>
                  </a:txBody>
                  <a:tcPr marL="171450" marR="171450" marT="95250" marB="95250" anchor="ctr">
                    <a:lnR w="6191">
                      <a:solidFill>
                        <a:srgbClr val="D4DDD7"/>
                      </a:solidFill>
                    </a:lnR>
                    <a:lnB w="6191">
                      <a:solidFill>
                        <a:srgbClr val="D4DDD7"/>
                      </a:solidFill>
                    </a:lnB>
                    <a:solidFill>
                      <a:srgbClr val="F6F5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75" b="0">
                          <a:solidFill>
                            <a:srgbClr val="243A40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需求与用例、文件测试</a:t>
                      </a:r>
                    </a:p>
                  </a:txBody>
                  <a:tcPr marL="171450" marR="171450" marT="95250" marB="95250" anchor="ctr">
                    <a:lnR w="6191">
                      <a:solidFill>
                        <a:srgbClr val="D4DDD7"/>
                      </a:solidFill>
                    </a:lnR>
                    <a:lnB w="6191">
                      <a:solidFill>
                        <a:srgbClr val="D4DDD7"/>
                      </a:solidFill>
                    </a:lnB>
                    <a:solidFill>
                      <a:srgbClr val="F6F5F0"/>
                    </a:solidFill>
                  </a:tcPr>
                </a:tc>
              </a:tr>
              <a:tr h="885825">
                <a:tc>
                  <a:txBody>
                    <a:bodyPr/>
                    <a:lstStyle/>
                    <a:p>
                      <a:pPr algn="l"/>
                      <a:r>
                        <a:rPr sz="1875" b="0">
                          <a:solidFill>
                            <a:srgbClr val="243A40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郭畅</a:t>
                      </a:r>
                    </a:p>
                  </a:txBody>
                  <a:tcPr marL="171450" marR="171450" marT="95250" marB="95250" anchor="ctr">
                    <a:lnL w="6191">
                      <a:solidFill>
                        <a:srgbClr val="D4DDD7"/>
                      </a:solidFill>
                    </a:lnL>
                    <a:lnR w="6191">
                      <a:solidFill>
                        <a:srgbClr val="D4DDD7"/>
                      </a:solidFill>
                    </a:lnR>
                    <a:lnB w="6191">
                      <a:solidFill>
                        <a:srgbClr val="D4DDD7"/>
                      </a:solidFill>
                    </a:lnB>
                    <a:solidFill>
                      <a:srgbClr val="F6F5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75" b="0">
                          <a:solidFill>
                            <a:srgbClr val="243A40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归档、Huffman、密码封装</a:t>
                      </a:r>
                    </a:p>
                  </a:txBody>
                  <a:tcPr marL="171450" marR="171450" marT="95250" marB="95250" anchor="ctr">
                    <a:lnR w="6191">
                      <a:solidFill>
                        <a:srgbClr val="D4DDD7"/>
                      </a:solidFill>
                    </a:lnR>
                    <a:lnB w="6191">
                      <a:solidFill>
                        <a:srgbClr val="D4DDD7"/>
                      </a:solidFill>
                    </a:lnB>
                    <a:solidFill>
                      <a:srgbClr val="F6F5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75" b="0">
                          <a:solidFill>
                            <a:srgbClr val="243A40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设计与类图、算法测试</a:t>
                      </a:r>
                    </a:p>
                  </a:txBody>
                  <a:tcPr marL="171450" marR="171450" marT="95250" marB="95250" anchor="ctr">
                    <a:lnR w="6191">
                      <a:solidFill>
                        <a:srgbClr val="D4DDD7"/>
                      </a:solidFill>
                    </a:lnR>
                    <a:lnB w="6191">
                      <a:solidFill>
                        <a:srgbClr val="D4DDD7"/>
                      </a:solidFill>
                    </a:lnB>
                    <a:solidFill>
                      <a:srgbClr val="F6F5F0"/>
                    </a:solidFill>
                  </a:tcPr>
                </a:tc>
              </a:tr>
              <a:tr h="885825">
                <a:tc>
                  <a:txBody>
                    <a:bodyPr/>
                    <a:lstStyle/>
                    <a:p>
                      <a:pPr algn="l"/>
                      <a:r>
                        <a:rPr sz="1875" b="0">
                          <a:solidFill>
                            <a:srgbClr val="243A40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李想</a:t>
                      </a:r>
                    </a:p>
                  </a:txBody>
                  <a:tcPr marL="171450" marR="171450" marT="95250" marB="95250" anchor="ctr">
                    <a:lnL w="6191">
                      <a:solidFill>
                        <a:srgbClr val="D4DDD7"/>
                      </a:solidFill>
                    </a:lnL>
                    <a:lnR w="6191">
                      <a:solidFill>
                        <a:srgbClr val="D4DDD7"/>
                      </a:solidFill>
                    </a:lnR>
                    <a:lnB w="6191">
                      <a:solidFill>
                        <a:srgbClr val="D4DDD7"/>
                      </a:solidFill>
                    </a:lnB>
                    <a:solidFill>
                      <a:srgbClr val="F6F5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75" b="0">
                          <a:solidFill>
                            <a:srgbClr val="243A40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GUI、自动任务、构建发布</a:t>
                      </a:r>
                    </a:p>
                  </a:txBody>
                  <a:tcPr marL="171450" marR="171450" marT="95250" marB="95250" anchor="ctr">
                    <a:lnR w="6191">
                      <a:solidFill>
                        <a:srgbClr val="D4DDD7"/>
                      </a:solidFill>
                    </a:lnR>
                    <a:lnB w="6191">
                      <a:solidFill>
                        <a:srgbClr val="D4DDD7"/>
                      </a:solidFill>
                    </a:lnB>
                    <a:solidFill>
                      <a:srgbClr val="F6F5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75" b="0">
                          <a:solidFill>
                            <a:srgbClr val="243A40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测试汇总、动态建模</a:t>
                      </a:r>
                    </a:p>
                  </a:txBody>
                  <a:tcPr marL="171450" marR="171450" marT="95250" marB="95250" anchor="ctr">
                    <a:lnR w="6191">
                      <a:solidFill>
                        <a:srgbClr val="D4DDD7"/>
                      </a:solidFill>
                    </a:lnR>
                    <a:lnB w="6191">
                      <a:solidFill>
                        <a:srgbClr val="D4DDD7"/>
                      </a:solidFill>
                    </a:lnB>
                    <a:solidFill>
                      <a:srgbClr val="F6F5F0"/>
                    </a:solidFill>
                  </a:tcPr>
                </a:tc>
              </a:tr>
            </a:tbl>
          </a:graphicData>
        </a:graphic>
      </p:graphicFrame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46EDE79-29CF-473E-861A-FA6D8364D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5429250"/>
            <a:ext cx="10934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4DDD7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C7CEDE3-2DE6-48E8-819C-E781366C7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676900"/>
            <a:ext cx="18097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10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210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210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210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210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210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210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210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210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210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10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47776F"/>
                </a:solidFill>
                <a:latin typeface="PingFang SC"/>
                <a:ea typeface="PingFang SC"/>
                <a:cs typeface="PingFang SC"/>
              </a:rPr>
              <a:t>共同复核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0FFE360-3DCF-4B3A-9AC0-E2CCE9DD4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6725" y="5721350"/>
            <a:ext cx="254000" cy="2540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4605">
            <a:solidFill>
              <a:srgbClr val="47776F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7B66EAB-DEDD-4946-AEAC-D3B45A082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3875" y="5848350"/>
            <a:ext cx="50800" cy="50800"/>
          </a:xfrm>
          <a:custGeom xmlns:a="http://schemas.openxmlformats.org/drawingml/2006/main">
            <a:pathLst>
              <a:path w="50800" h="50800">
                <a:moveTo>
                  <a:pt x="0" y="0"/>
                </a:moveTo>
                <a:lnTo>
                  <a:pt x="50800" y="50800"/>
                </a:lnTo>
              </a:path>
            </a:pathLst>
          </a:custGeom>
          <a:noFill xmlns:a="http://schemas.openxmlformats.org/drawingml/2006/main"/>
          <a:ln xmlns:a="http://schemas.openxmlformats.org/drawingml/2006/main" w="14605">
            <a:solidFill>
              <a:srgbClr val="47776F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F0EF81E-2E14-47A6-A10B-391AA3102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5797550"/>
            <a:ext cx="88900" cy="101600"/>
          </a:xfrm>
          <a:custGeom xmlns:a="http://schemas.openxmlformats.org/drawingml/2006/main">
            <a:pathLst>
              <a:path w="88900" h="101600">
                <a:moveTo>
                  <a:pt x="0" y="101600"/>
                </a:moveTo>
                <a:lnTo>
                  <a:pt x="889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605">
            <a:solidFill>
              <a:srgbClr val="47776F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00E451E-9CB0-4C5A-9D4A-2F542C1C8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5695950"/>
            <a:ext cx="22574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rPr>
              <a:t>代码与接口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B464F20-381A-4A75-81EE-550CE52D1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5650" y="5721350"/>
            <a:ext cx="254000" cy="2540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4605">
            <a:solidFill>
              <a:srgbClr val="B96C43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01205A7-BFCE-478D-B53E-F2EE73585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2800" y="5848350"/>
            <a:ext cx="50800" cy="50800"/>
          </a:xfrm>
          <a:custGeom xmlns:a="http://schemas.openxmlformats.org/drawingml/2006/main">
            <a:pathLst>
              <a:path w="50800" h="50800">
                <a:moveTo>
                  <a:pt x="0" y="0"/>
                </a:moveTo>
                <a:lnTo>
                  <a:pt x="50800" y="50800"/>
                </a:lnTo>
              </a:path>
            </a:pathLst>
          </a:custGeom>
          <a:noFill xmlns:a="http://schemas.openxmlformats.org/drawingml/2006/main"/>
          <a:ln xmlns:a="http://schemas.openxmlformats.org/drawingml/2006/main" w="14605">
            <a:solidFill>
              <a:srgbClr val="B96C43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ED7EA4B-43A4-48AE-9FE1-04C58AEA9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5797550"/>
            <a:ext cx="88900" cy="101600"/>
          </a:xfrm>
          <a:custGeom xmlns:a="http://schemas.openxmlformats.org/drawingml/2006/main">
            <a:pathLst>
              <a:path w="88900" h="101600">
                <a:moveTo>
                  <a:pt x="0" y="101600"/>
                </a:moveTo>
                <a:lnTo>
                  <a:pt x="889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605">
            <a:solidFill>
              <a:srgbClr val="B96C43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88A5C60-057C-454C-BF57-AC14F6598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5695950"/>
            <a:ext cx="22574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rPr>
              <a:t>恢复结果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6C6D7C6-347C-4F50-9465-414B334D3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4575" y="5721350"/>
            <a:ext cx="254000" cy="2540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4605">
            <a:solidFill>
              <a:srgbClr val="47776F"/>
            </a:solidFill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9B75E68-7E4B-4D10-9A67-2FD6F7009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1725" y="5848350"/>
            <a:ext cx="50800" cy="50800"/>
          </a:xfrm>
          <a:custGeom xmlns:a="http://schemas.openxmlformats.org/drawingml/2006/main">
            <a:pathLst>
              <a:path w="50800" h="50800">
                <a:moveTo>
                  <a:pt x="0" y="0"/>
                </a:moveTo>
                <a:lnTo>
                  <a:pt x="50800" y="50800"/>
                </a:lnTo>
              </a:path>
            </a:pathLst>
          </a:custGeom>
          <a:noFill xmlns:a="http://schemas.openxmlformats.org/drawingml/2006/main"/>
          <a:ln xmlns:a="http://schemas.openxmlformats.org/drawingml/2006/main" w="14605">
            <a:solidFill>
              <a:srgbClr val="47776F"/>
            </a:solidFill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42DB952-8133-40AE-8BD4-7F2EDBDF0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2525" y="5797550"/>
            <a:ext cx="88900" cy="101600"/>
          </a:xfrm>
          <a:custGeom xmlns:a="http://schemas.openxmlformats.org/drawingml/2006/main">
            <a:pathLst>
              <a:path w="88900" h="101600">
                <a:moveTo>
                  <a:pt x="0" y="101600"/>
                </a:moveTo>
                <a:lnTo>
                  <a:pt x="889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605">
            <a:solidFill>
              <a:srgbClr val="47776F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B67586C-52E8-425C-A54C-068DF2BFA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5695950"/>
            <a:ext cx="22574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rPr>
              <a:t>文档与演示</a:t>
            </a:r>
          </a:p>
        </p:txBody>
      </p:sp>
    </p:spTree>
    <p:extLst>
      <p:ext uri="{BB962C8B-B14F-4D97-AF65-F5344CB8AC3E}">
        <p14:creationId xmlns:p14="http://schemas.microsoft.com/office/powerpoint/2010/main" val="59472778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6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AC99989-7DDA-4B35-8C5A-2D6671A90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0"/>
            <a:ext cx="2381250" cy="1762125"/>
          </a:xfrm>
          <a:custGeom xmlns:a="http://schemas.openxmlformats.org/drawingml/2006/main">
            <a:pathLst>
              <a:path w="2381250" h="1762125">
                <a:moveTo>
                  <a:pt x="0" y="0"/>
                </a:moveTo>
                <a:cubicBezTo>
                  <a:pt x="190500" y="809625"/>
                  <a:pt x="952500" y="762000"/>
                  <a:pt x="2286000" y="1666875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E1E7DE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0EA112-ACBF-4D5E-9E9B-827138BD9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0"/>
            <a:ext cx="2228850" cy="1885950"/>
          </a:xfrm>
          <a:custGeom xmlns:a="http://schemas.openxmlformats.org/drawingml/2006/main">
            <a:pathLst>
              <a:path w="2228850" h="1885950">
                <a:moveTo>
                  <a:pt x="0" y="0"/>
                </a:moveTo>
                <a:cubicBezTo>
                  <a:pt x="190500" y="866775"/>
                  <a:pt x="933450" y="857250"/>
                  <a:pt x="2133600" y="1790700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E1E7DE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7DFC3B-F3E3-49CF-A14F-73FDADCE1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0"/>
            <a:ext cx="2076450" cy="2009775"/>
          </a:xfrm>
          <a:custGeom xmlns:a="http://schemas.openxmlformats.org/drawingml/2006/main">
            <a:pathLst>
              <a:path w="2076450" h="2009775">
                <a:moveTo>
                  <a:pt x="0" y="0"/>
                </a:moveTo>
                <a:cubicBezTo>
                  <a:pt x="190500" y="923925"/>
                  <a:pt x="914400" y="952500"/>
                  <a:pt x="1981200" y="1914525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E1E7DE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29EC06-4975-4667-89D2-E58500A72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0"/>
            <a:ext cx="1924050" cy="2133600"/>
          </a:xfrm>
          <a:custGeom xmlns:a="http://schemas.openxmlformats.org/drawingml/2006/main">
            <a:pathLst>
              <a:path w="1924050" h="2133600">
                <a:moveTo>
                  <a:pt x="0" y="0"/>
                </a:moveTo>
                <a:cubicBezTo>
                  <a:pt x="190500" y="981075"/>
                  <a:pt x="895350" y="1047750"/>
                  <a:pt x="1828800" y="2038350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E1E7DE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E491E02-A90F-41BD-B92E-539CC9261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0"/>
            <a:ext cx="1771650" cy="2257425"/>
          </a:xfrm>
          <a:custGeom xmlns:a="http://schemas.openxmlformats.org/drawingml/2006/main">
            <a:pathLst>
              <a:path w="1771650" h="2257425">
                <a:moveTo>
                  <a:pt x="0" y="0"/>
                </a:moveTo>
                <a:cubicBezTo>
                  <a:pt x="190500" y="1038225"/>
                  <a:pt x="876300" y="1143000"/>
                  <a:pt x="1676400" y="2162175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E1E7DE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DDAB65-F5DC-4C0E-AE07-A9A7192F6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0"/>
            <a:ext cx="1619250" cy="2381250"/>
          </a:xfrm>
          <a:custGeom xmlns:a="http://schemas.openxmlformats.org/drawingml/2006/main">
            <a:pathLst>
              <a:path w="1619250" h="2381250">
                <a:moveTo>
                  <a:pt x="0" y="0"/>
                </a:moveTo>
                <a:cubicBezTo>
                  <a:pt x="190500" y="1095375"/>
                  <a:pt x="857250" y="1238250"/>
                  <a:pt x="1524000" y="2286000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E1E7DE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8AFB237-046B-4AD5-8DB7-34D973A3C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87050" y="0"/>
            <a:ext cx="1466850" cy="2505075"/>
          </a:xfrm>
          <a:custGeom xmlns:a="http://schemas.openxmlformats.org/drawingml/2006/main">
            <a:pathLst>
              <a:path w="1466850" h="2505075">
                <a:moveTo>
                  <a:pt x="0" y="0"/>
                </a:moveTo>
                <a:cubicBezTo>
                  <a:pt x="190500" y="1152525"/>
                  <a:pt x="838200" y="1333500"/>
                  <a:pt x="1371600" y="2409825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E1E7DE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7E7BB34-7054-4F8C-92CE-E2CF17B67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89A62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36527E5-52C8-4F79-9C40-DC174B0F6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7675"/>
            <a:ext cx="10287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pPr>
            <a:r>
              <a: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rPr>
              <a:t>版本演进与开发记录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3F4F440-D786-4B3F-BC7B-CEA5BAC67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00150"/>
            <a:ext cx="11010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4DDD7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DAD8019-6839-4579-A1E2-A569401E3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00150"/>
            <a:ext cx="5429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B89A62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7C43327-C122-4022-A052-8CF18E5FA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71450"/>
            <a:ext cx="37814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defPPr>
            <a:lvl1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1pPr>
            <a:lvl2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2pPr>
            <a:lvl3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3pPr>
            <a:lvl4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4pPr>
            <a:lvl5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5pPr>
            <a:lvl6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6pPr>
            <a:lvl7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7pPr>
            <a:lvl8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8pPr>
            <a:lvl9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r">
              <a:lnSpc>
                <a:spcPct val="113000"/>
              </a:lnSpc>
              <a:buNone/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rPr>
              <a:t>03  验证与协作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CE12D4D-6A5D-4094-93C5-E85EA0E20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6353175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defPPr>
            <a:lvl1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1pPr>
            <a:lvl2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2pPr>
            <a:lvl3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3pPr>
            <a:lvl4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4pPr>
            <a:lvl5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5pPr>
            <a:lvl6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6pPr>
            <a:lvl7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7pPr>
            <a:lvl8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8pPr>
            <a:lvl9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r">
              <a:lnSpc>
                <a:spcPct val="113000"/>
              </a:lnSpc>
              <a:buNone/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pPr>
            <a:r>
              <a: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rPr>
              <a:t>10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6C610E-1B5D-447D-9BBE-18DB642C4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06175" y="6419850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rPr>
              <a:t>/ 11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3E4D14F-57CB-4AEB-BD3E-E5E5EB411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19250"/>
            <a:ext cx="2619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225" b="1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sz="3225" b="1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sz="3225" b="1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sz="3225" b="1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sz="3225" b="1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sz="3225" b="1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sz="3225" b="1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sz="3225" b="1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sz="3225" b="1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sz="3225" b="1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3225" b="1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pPr>
            <a:r>
              <a:rPr sz="3225" b="1">
                <a:solidFill>
                  <a:srgbClr val="47776F"/>
                </a:solidFill>
                <a:latin typeface="Avenir Next"/>
                <a:ea typeface="Avenir Next"/>
                <a:cs typeface="Avenir Next"/>
              </a:rPr>
              <a:t>0.1.0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5697FBF-9C52-4CA5-ABA4-57C3FAEDF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305050"/>
            <a:ext cx="3524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75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875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875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875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875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875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875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875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875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875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75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243A40"/>
                </a:solidFill>
                <a:latin typeface="PingFang SC"/>
                <a:ea typeface="PingFang SC"/>
                <a:cs typeface="PingFang SC"/>
              </a:rPr>
              <a:t>备份与恢复基线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79BCB2D-1E5C-47FA-885F-B357BAEEA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1905000"/>
            <a:ext cx="1123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4DDD7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CCB9FDD-7B65-4699-8B0F-5E9617D49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1619250"/>
            <a:ext cx="2619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225" b="1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sz="3225" b="1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sz="3225" b="1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sz="3225" b="1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sz="3225" b="1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sz="3225" b="1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sz="3225" b="1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sz="3225" b="1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sz="3225" b="1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sz="3225" b="1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3225" b="1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pPr>
            <a:r>
              <a:rPr sz="3225" b="1">
                <a:solidFill>
                  <a:srgbClr val="47776F"/>
                </a:solidFill>
                <a:latin typeface="Avenir Next"/>
                <a:ea typeface="Avenir Next"/>
                <a:cs typeface="Avenir Next"/>
              </a:rPr>
              <a:t>0.1.1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D620EE6-5735-4313-822A-067ED605A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2305050"/>
            <a:ext cx="3524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75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875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875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875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875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875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875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875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875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875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75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243A40"/>
                </a:solidFill>
                <a:latin typeface="PingFang SC"/>
                <a:ea typeface="PingFang SC"/>
                <a:cs typeface="PingFang SC"/>
              </a:rPr>
              <a:t>恢复权限、变化检测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2D1A6D6-31FD-450F-8873-17CFBD257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905000"/>
            <a:ext cx="1123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4DDD7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137672F-0F35-4627-8E3A-9AFF54C61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1619250"/>
            <a:ext cx="2619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225" b="1">
                <a:solidFill>
                  <a:srgbClr val="B96C43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sz="3225" b="1">
                <a:solidFill>
                  <a:srgbClr val="B96C43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sz="3225" b="1">
                <a:solidFill>
                  <a:srgbClr val="B96C43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sz="3225" b="1">
                <a:solidFill>
                  <a:srgbClr val="B96C43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sz="3225" b="1">
                <a:solidFill>
                  <a:srgbClr val="B96C43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sz="3225" b="1">
                <a:solidFill>
                  <a:srgbClr val="B96C43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sz="3225" b="1">
                <a:solidFill>
                  <a:srgbClr val="B96C43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sz="3225" b="1">
                <a:solidFill>
                  <a:srgbClr val="B96C43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sz="3225" b="1">
                <a:solidFill>
                  <a:srgbClr val="B96C43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sz="3225" b="1">
                <a:solidFill>
                  <a:srgbClr val="B96C43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3225" b="1">
                <a:solidFill>
                  <a:srgbClr val="B96C43"/>
                </a:solidFill>
                <a:latin typeface="Avenir Next"/>
                <a:ea typeface="Avenir Next"/>
                <a:cs typeface="Avenir Next"/>
              </a:defRPr>
            </a:pPr>
            <a:r>
              <a:rPr sz="3225" b="1">
                <a:solidFill>
                  <a:srgbClr val="B96C43"/>
                </a:solidFill>
                <a:latin typeface="Avenir Next"/>
                <a:ea typeface="Avenir Next"/>
                <a:cs typeface="Avenir Next"/>
              </a:rPr>
              <a:t>0.2.0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5652B95-BBFB-4012-BDA2-FE3814E39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305050"/>
            <a:ext cx="3524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75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875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875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875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875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875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875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875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875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875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75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243A40"/>
                </a:solidFill>
                <a:latin typeface="PingFang SC"/>
                <a:ea typeface="PingFang SC"/>
                <a:cs typeface="PingFang SC"/>
              </a:rPr>
              <a:t>取消、进度与回归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09FBCBB-EDF0-4AAC-B8A4-639F03E54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962275"/>
            <a:ext cx="1095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4DDD7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11B2982-C5E5-4473-953E-FF1896764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209925"/>
            <a:ext cx="5715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rPr>
              <a:t>开发记录甘特图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3FA062C-B023-4DCE-8A1A-F9FFC10BF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3257550"/>
            <a:ext cx="2095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650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defPPr>
            <a:lvl1pPr algn="r">
              <a:defRPr sz="1650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1pPr>
            <a:lvl2pPr algn="r">
              <a:defRPr sz="1650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2pPr>
            <a:lvl3pPr algn="r">
              <a:defRPr sz="1650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3pPr>
            <a:lvl4pPr algn="r">
              <a:defRPr sz="1650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4pPr>
            <a:lvl5pPr algn="r">
              <a:defRPr sz="1650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5pPr>
            <a:lvl6pPr algn="r">
              <a:defRPr sz="1650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6pPr>
            <a:lvl7pPr algn="r">
              <a:defRPr sz="1650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7pPr>
            <a:lvl8pPr algn="r">
              <a:defRPr sz="1650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8pPr>
            <a:lvl9pPr algn="r">
              <a:defRPr sz="1650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r">
              <a:lnSpc>
                <a:spcPct val="113000"/>
              </a:lnSpc>
              <a:buNone/>
              <a:defRPr sz="1650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pPr>
            <a:r>
              <a:rPr sz="1650" b="0">
                <a:solidFill>
                  <a:srgbClr val="6F807D"/>
                </a:solidFill>
                <a:latin typeface="Avenir Next"/>
                <a:ea typeface="Avenir Next"/>
                <a:cs typeface="Avenir Next"/>
              </a:rPr>
              <a:t>10 / 29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C8B1CCE-15CC-4CB1-A2D8-C122C96EA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3924300"/>
            <a:ext cx="0" cy="20669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">
            <a:solidFill>
              <a:srgbClr val="D4DDD7"/>
            </a:solidFill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293570A-2DA4-435A-9B8E-A06D30EA4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638550"/>
            <a:ext cx="8286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2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sz="12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sz="12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sz="12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sz="12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sz="12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sz="12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sz="12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sz="12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sz="12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2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pPr>
            <a:r>
              <a:rPr sz="1275" b="0">
                <a:solidFill>
                  <a:srgbClr val="6F807D"/>
                </a:solidFill>
                <a:latin typeface="Avenir Next"/>
                <a:ea typeface="Avenir Next"/>
                <a:cs typeface="Avenir Next"/>
              </a:rPr>
              <a:t>00:00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DF4DEBF-658C-4F6A-826F-86E46918C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924300"/>
            <a:ext cx="0" cy="20669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">
            <a:solidFill>
              <a:srgbClr val="D4DDD7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9D2E114-8E07-4C8B-842A-274A37762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3638550"/>
            <a:ext cx="8286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2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sz="12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sz="12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sz="12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sz="12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sz="12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sz="12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sz="12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sz="12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sz="12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2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pPr>
            <a:r>
              <a:rPr sz="1275" b="0">
                <a:solidFill>
                  <a:srgbClr val="6F807D"/>
                </a:solidFill>
                <a:latin typeface="Avenir Next"/>
                <a:ea typeface="Avenir Next"/>
                <a:cs typeface="Avenir Next"/>
              </a:rPr>
              <a:t>04:00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F41D6F6-E32D-4F38-BF7E-AC2340A15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924300"/>
            <a:ext cx="0" cy="20669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">
            <a:solidFill>
              <a:srgbClr val="D4DDD7"/>
            </a:solidFill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12CAC41-647B-49A0-9009-50D93BE83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3638550"/>
            <a:ext cx="8286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2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sz="12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sz="12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sz="12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sz="12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sz="12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sz="12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sz="12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sz="12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sz="12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2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pPr>
            <a:r>
              <a:rPr sz="1275" b="0">
                <a:solidFill>
                  <a:srgbClr val="6F807D"/>
                </a:solidFill>
                <a:latin typeface="Avenir Next"/>
                <a:ea typeface="Avenir Next"/>
                <a:cs typeface="Avenir Next"/>
              </a:rPr>
              <a:t>08:00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C918FEC-48DF-4733-A794-0D991F850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924300"/>
            <a:ext cx="0" cy="20669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">
            <a:solidFill>
              <a:srgbClr val="D4DDD7"/>
            </a:solidFill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7965E55-5842-4BB7-9571-67941AEBE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3638550"/>
            <a:ext cx="8286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2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sz="12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sz="12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sz="12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sz="12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sz="12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sz="12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sz="12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sz="12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sz="12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2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pPr>
            <a:r>
              <a:rPr sz="1275" b="0">
                <a:solidFill>
                  <a:srgbClr val="6F807D"/>
                </a:solidFill>
                <a:latin typeface="Avenir Next"/>
                <a:ea typeface="Avenir Next"/>
                <a:cs typeface="Avenir Next"/>
              </a:rPr>
              <a:t>12:00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502A318-F8BF-465A-88A8-A6E845615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924300"/>
            <a:ext cx="0" cy="20669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">
            <a:solidFill>
              <a:srgbClr val="D4DDD7"/>
            </a:solidFill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7B8D665-1727-4B07-9795-AB61B11FB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638550"/>
            <a:ext cx="8286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2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sz="12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sz="12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sz="12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sz="12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sz="12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sz="12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sz="12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sz="12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sz="12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2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pPr>
            <a:r>
              <a:rPr sz="1275" b="0">
                <a:solidFill>
                  <a:srgbClr val="6F807D"/>
                </a:solidFill>
                <a:latin typeface="Avenir Next"/>
                <a:ea typeface="Avenir Next"/>
                <a:cs typeface="Avenir Next"/>
              </a:rPr>
              <a:t>16:00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524B71A-E00E-41ED-A254-E057A732B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3924300"/>
            <a:ext cx="0" cy="20669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">
            <a:solidFill>
              <a:srgbClr val="D4DDD7"/>
            </a:solidFill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C415A3D-D874-47ED-8405-530AB817A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3638550"/>
            <a:ext cx="8286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2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sz="12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sz="12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sz="12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sz="12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sz="12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sz="12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sz="12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sz="12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sz="12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2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pPr>
            <a:r>
              <a:rPr sz="1275" b="0">
                <a:solidFill>
                  <a:srgbClr val="6F807D"/>
                </a:solidFill>
                <a:latin typeface="Avenir Next"/>
                <a:ea typeface="Avenir Next"/>
                <a:cs typeface="Avenir Next"/>
              </a:rPr>
              <a:t>20:00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1D7B808-0882-4736-9B35-B066C9F47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19550"/>
            <a:ext cx="199072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rPr>
              <a:t>程序基线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70DEBED-0C6E-4D32-BC33-0E2AA0681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1308" y="4067175"/>
            <a:ext cx="544735" cy="219075"/>
          </a:xfrm>
          <a:prstGeom xmlns:a="http://schemas.openxmlformats.org/drawingml/2006/main" prst="roundRect">
            <a:avLst>
              <a:gd name="adj" fmla="val 34783"/>
            </a:avLst>
          </a:prstGeom>
          <a:solidFill xmlns:a="http://schemas.openxmlformats.org/drawingml/2006/main">
            <a:srgbClr val="47776F"/>
          </a:solidFill>
          <a:ln xmlns:a="http://schemas.openxmlformats.org/drawingml/2006/main" w="0">
            <a:noFill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FFAB11A-A2A3-4094-9351-782672019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14850"/>
            <a:ext cx="199072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rPr>
              <a:t>修复与增强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21E0406-F44C-4222-8FEE-5A6E4F951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5728" y="4562475"/>
            <a:ext cx="1130427" cy="219075"/>
          </a:xfrm>
          <a:prstGeom xmlns:a="http://schemas.openxmlformats.org/drawingml/2006/main" prst="roundRect">
            <a:avLst>
              <a:gd name="adj" fmla="val 34783"/>
            </a:avLst>
          </a:prstGeom>
          <a:solidFill xmlns:a="http://schemas.openxmlformats.org/drawingml/2006/main">
            <a:srgbClr val="47776F"/>
          </a:solidFill>
          <a:ln xmlns:a="http://schemas.openxmlformats.org/drawingml/2006/main" w="0">
            <a:noFill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C5D663E-1BD1-4A58-AB9B-861854B57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010150"/>
            <a:ext cx="199072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rPr>
              <a:t>测试与封装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F112671-1725-496C-83A6-CD68972BF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4453" y="5057775"/>
            <a:ext cx="1732502" cy="219075"/>
          </a:xfrm>
          <a:prstGeom xmlns:a="http://schemas.openxmlformats.org/drawingml/2006/main" prst="roundRect">
            <a:avLst>
              <a:gd name="adj" fmla="val 34783"/>
            </a:avLst>
          </a:prstGeom>
          <a:solidFill xmlns:a="http://schemas.openxmlformats.org/drawingml/2006/main">
            <a:srgbClr val="B96C43"/>
          </a:solidFill>
          <a:ln xmlns:a="http://schemas.openxmlformats.org/drawingml/2006/main" w="0">
            <a:noFill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B734DD0-66A6-4B6C-8260-967BAD929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505450"/>
            <a:ext cx="199072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rPr>
              <a:t>文档与协作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3675D7F-9DAF-4A7B-8702-6E6F7C918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220" y="5553075"/>
            <a:ext cx="1404842" cy="219075"/>
          </a:xfrm>
          <a:prstGeom xmlns:a="http://schemas.openxmlformats.org/drawingml/2006/main" prst="roundRect">
            <a:avLst>
              <a:gd name="adj" fmla="val 34783"/>
            </a:avLst>
          </a:prstGeom>
          <a:solidFill xmlns:a="http://schemas.openxmlformats.org/drawingml/2006/main">
            <a:srgbClr val="B89A62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187057064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6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52D0B72-6A46-4D6B-8947-C34F8FC0E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0"/>
            <a:ext cx="2381250" cy="1762125"/>
          </a:xfrm>
          <a:custGeom xmlns:a="http://schemas.openxmlformats.org/drawingml/2006/main">
            <a:pathLst>
              <a:path w="2381250" h="1762125">
                <a:moveTo>
                  <a:pt x="0" y="0"/>
                </a:moveTo>
                <a:cubicBezTo>
                  <a:pt x="190500" y="809625"/>
                  <a:pt x="952500" y="762000"/>
                  <a:pt x="2286000" y="1666875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E1E7DE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2087D4-B5FE-4D08-AD8A-A17CFC80C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0"/>
            <a:ext cx="2228850" cy="1885950"/>
          </a:xfrm>
          <a:custGeom xmlns:a="http://schemas.openxmlformats.org/drawingml/2006/main">
            <a:pathLst>
              <a:path w="2228850" h="1885950">
                <a:moveTo>
                  <a:pt x="0" y="0"/>
                </a:moveTo>
                <a:cubicBezTo>
                  <a:pt x="190500" y="866775"/>
                  <a:pt x="933450" y="857250"/>
                  <a:pt x="2133600" y="1790700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E1E7DE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BAD06E-3E20-454C-ADF7-4537A3086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0"/>
            <a:ext cx="2076450" cy="2009775"/>
          </a:xfrm>
          <a:custGeom xmlns:a="http://schemas.openxmlformats.org/drawingml/2006/main">
            <a:pathLst>
              <a:path w="2076450" h="2009775">
                <a:moveTo>
                  <a:pt x="0" y="0"/>
                </a:moveTo>
                <a:cubicBezTo>
                  <a:pt x="190500" y="923925"/>
                  <a:pt x="914400" y="952500"/>
                  <a:pt x="1981200" y="1914525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E1E7DE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175842-A99F-472A-AC72-3E5303072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0"/>
            <a:ext cx="1924050" cy="2133600"/>
          </a:xfrm>
          <a:custGeom xmlns:a="http://schemas.openxmlformats.org/drawingml/2006/main">
            <a:pathLst>
              <a:path w="1924050" h="2133600">
                <a:moveTo>
                  <a:pt x="0" y="0"/>
                </a:moveTo>
                <a:cubicBezTo>
                  <a:pt x="190500" y="981075"/>
                  <a:pt x="895350" y="1047750"/>
                  <a:pt x="1828800" y="2038350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E1E7DE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531AA8-FC67-4864-ACBF-F771760E1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0"/>
            <a:ext cx="1771650" cy="2257425"/>
          </a:xfrm>
          <a:custGeom xmlns:a="http://schemas.openxmlformats.org/drawingml/2006/main">
            <a:pathLst>
              <a:path w="1771650" h="2257425">
                <a:moveTo>
                  <a:pt x="0" y="0"/>
                </a:moveTo>
                <a:cubicBezTo>
                  <a:pt x="190500" y="1038225"/>
                  <a:pt x="876300" y="1143000"/>
                  <a:pt x="1676400" y="2162175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E1E7DE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F1FC9D4-A1EA-4D2A-96AD-3B5382132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0"/>
            <a:ext cx="1619250" cy="2381250"/>
          </a:xfrm>
          <a:custGeom xmlns:a="http://schemas.openxmlformats.org/drawingml/2006/main">
            <a:pathLst>
              <a:path w="1619250" h="2381250">
                <a:moveTo>
                  <a:pt x="0" y="0"/>
                </a:moveTo>
                <a:cubicBezTo>
                  <a:pt x="190500" y="1095375"/>
                  <a:pt x="857250" y="1238250"/>
                  <a:pt x="1524000" y="2286000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E1E7DE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25FD776-163D-40DF-93EC-E4E426070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87050" y="0"/>
            <a:ext cx="1466850" cy="2505075"/>
          </a:xfrm>
          <a:custGeom xmlns:a="http://schemas.openxmlformats.org/drawingml/2006/main">
            <a:pathLst>
              <a:path w="1466850" h="2505075">
                <a:moveTo>
                  <a:pt x="0" y="0"/>
                </a:moveTo>
                <a:cubicBezTo>
                  <a:pt x="190500" y="1152525"/>
                  <a:pt x="838200" y="1333500"/>
                  <a:pt x="1371600" y="2409825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E1E7DE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F4254FE-2771-4849-B4CE-BBC8223DF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89A62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06B976-2852-4EF1-858C-499C858BA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7675"/>
            <a:ext cx="10287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pPr>
            <a:r>
              <a: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rPr>
              <a:t>现场演示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3F8460-057D-47B7-A4EB-8AFF002CC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00150"/>
            <a:ext cx="11010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4DDD7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715F2E6-FD4C-4144-AEB7-0AA71D1BE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00150"/>
            <a:ext cx="5429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B89A62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03F6DE1-41ED-40E2-B5B1-F6D19F6CD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71450"/>
            <a:ext cx="37814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defPPr>
            <a:lvl1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1pPr>
            <a:lvl2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2pPr>
            <a:lvl3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3pPr>
            <a:lvl4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4pPr>
            <a:lvl5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5pPr>
            <a:lvl6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6pPr>
            <a:lvl7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7pPr>
            <a:lvl8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8pPr>
            <a:lvl9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r">
              <a:lnSpc>
                <a:spcPct val="113000"/>
              </a:lnSpc>
              <a:buNone/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rPr>
              <a:t>03  验证与协作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22CA0DF-308A-4448-AA2A-2390228C7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6353175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defPPr>
            <a:lvl1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1pPr>
            <a:lvl2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2pPr>
            <a:lvl3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3pPr>
            <a:lvl4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4pPr>
            <a:lvl5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5pPr>
            <a:lvl6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6pPr>
            <a:lvl7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7pPr>
            <a:lvl8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8pPr>
            <a:lvl9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r">
              <a:lnSpc>
                <a:spcPct val="113000"/>
              </a:lnSpc>
              <a:buNone/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pPr>
            <a:r>
              <a: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rPr>
              <a:t>11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B7E5E4-7DB3-4B90-BC7C-2D76D8AB1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06175" y="6419850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rPr>
              <a:t>/ 11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3990376-A15B-4F4E-B252-CCD9FB4B9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628775"/>
            <a:ext cx="7124700" cy="4352925"/>
          </a:xfrm>
          <a:prstGeom xmlns:a="http://schemas.openxmlformats.org/drawingml/2006/main" prst="roundRect">
            <a:avLst>
              <a:gd name="adj" fmla="val 17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7"/>
            </a:solidFill>
          </a:ln>
        </p:spPr>
      </p:sp>
      <p:pic>
        <p:nvPic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474E0B8-959F-4BF9-B22F-16B6AD67C2B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56682bfc42b4ed3"/>
          <a:stretch xmlns:a="http://schemas.openxmlformats.org/drawingml/2006/main"/>
        </p:blipFill>
        <p:spPr>
          <a:xfrm xmlns:a="http://schemas.openxmlformats.org/drawingml/2006/main">
            <a:off x="1458815" y="1743075"/>
            <a:ext cx="5445319" cy="4124325"/>
          </a:xfrm>
          <a:prstGeom xmlns:a="http://schemas.openxmlformats.org/drawingml/2006/main" prst="rect">
            <a:avLst/>
          </a:prstGeom>
        </p:spPr>
      </p:pic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61C2660-7903-48DB-8860-91E52D6B0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762125"/>
            <a:ext cx="666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2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sz="22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sz="22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sz="22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sz="22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sz="22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sz="22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sz="22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sz="22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sz="22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2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pPr>
            <a:r>
              <a:rPr sz="2250" b="0">
                <a:solidFill>
                  <a:srgbClr val="47776F"/>
                </a:solidFill>
                <a:latin typeface="Avenir Next"/>
                <a:ea typeface="Avenir Next"/>
                <a:cs typeface="Avenir Next"/>
              </a:rPr>
              <a:t>01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D9FFB9D-42DB-4FD7-955A-449071E81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1809750"/>
            <a:ext cx="2667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0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20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20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20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20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20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20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20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20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20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0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pPr>
            <a:r>
              <a:rPr sz="2025" b="1">
                <a:solidFill>
                  <a:srgbClr val="243A40"/>
                </a:solidFill>
                <a:latin typeface="PingFang SC"/>
                <a:ea typeface="PingFang SC"/>
                <a:cs typeface="PingFang SC"/>
              </a:rPr>
              <a:t>创建加密备份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51A0E3D-D983-4D6C-A311-969E08B25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428875"/>
            <a:ext cx="2619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4DDD7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A470885-7A0D-4610-958E-57EBC0486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695575"/>
            <a:ext cx="666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2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sz="22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sz="22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sz="22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sz="22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sz="22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sz="22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sz="22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sz="22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sz="22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2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pPr>
            <a:r>
              <a:rPr sz="2250" b="0">
                <a:solidFill>
                  <a:srgbClr val="47776F"/>
                </a:solidFill>
                <a:latin typeface="Avenir Next"/>
                <a:ea typeface="Avenir Next"/>
                <a:cs typeface="Avenir Next"/>
              </a:rPr>
              <a:t>02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7BB1F94-3F64-401B-89E3-57693F2BD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2743200"/>
            <a:ext cx="2667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0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20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20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20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20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20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20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20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20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20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0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pPr>
            <a:r>
              <a:rPr sz="2025" b="1">
                <a:solidFill>
                  <a:srgbClr val="243A40"/>
                </a:solidFill>
                <a:latin typeface="PingFang SC"/>
                <a:ea typeface="PingFang SC"/>
                <a:cs typeface="PingFang SC"/>
              </a:rPr>
              <a:t>验证并恢复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0A869B1-DC0E-4614-A7AD-51D7BD442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3362325"/>
            <a:ext cx="2619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4DDD7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573BD2D-DC18-48FE-9A6E-2072CBCAA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629025"/>
            <a:ext cx="666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250" b="0">
                <a:solidFill>
                  <a:srgbClr val="B96C43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sz="2250" b="0">
                <a:solidFill>
                  <a:srgbClr val="B96C43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sz="2250" b="0">
                <a:solidFill>
                  <a:srgbClr val="B96C43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sz="2250" b="0">
                <a:solidFill>
                  <a:srgbClr val="B96C43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sz="2250" b="0">
                <a:solidFill>
                  <a:srgbClr val="B96C43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sz="2250" b="0">
                <a:solidFill>
                  <a:srgbClr val="B96C43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sz="2250" b="0">
                <a:solidFill>
                  <a:srgbClr val="B96C43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sz="2250" b="0">
                <a:solidFill>
                  <a:srgbClr val="B96C43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sz="2250" b="0">
                <a:solidFill>
                  <a:srgbClr val="B96C43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sz="2250" b="0">
                <a:solidFill>
                  <a:srgbClr val="B96C43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250" b="0">
                <a:solidFill>
                  <a:srgbClr val="B96C43"/>
                </a:solidFill>
                <a:latin typeface="Avenir Next"/>
                <a:ea typeface="Avenir Next"/>
                <a:cs typeface="Avenir Next"/>
              </a:defRPr>
            </a:pPr>
            <a:r>
              <a:rPr sz="2250" b="0">
                <a:solidFill>
                  <a:srgbClr val="B96C43"/>
                </a:solidFill>
                <a:latin typeface="Avenir Next"/>
                <a:ea typeface="Avenir Next"/>
                <a:cs typeface="Avenir Next"/>
              </a:rPr>
              <a:t>03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02557D6-D636-495B-A5D0-E92190144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3676650"/>
            <a:ext cx="2667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0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20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20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20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20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20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20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20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20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20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0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pPr>
            <a:r>
              <a:rPr sz="2025" b="1">
                <a:solidFill>
                  <a:srgbClr val="243A40"/>
                </a:solidFill>
                <a:latin typeface="PingFang SC"/>
                <a:ea typeface="PingFang SC"/>
                <a:cs typeface="PingFang SC"/>
              </a:rPr>
              <a:t>检查错误密码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818B351-6463-4565-908D-803EA9182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4295775"/>
            <a:ext cx="2619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4DDD7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3C35CBB-DAD0-4147-B38B-40FB130CF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562475"/>
            <a:ext cx="666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2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sz="22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sz="22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sz="22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sz="22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sz="22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sz="22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sz="22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sz="22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sz="22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2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pPr>
            <a:r>
              <a:rPr sz="2250" b="0">
                <a:solidFill>
                  <a:srgbClr val="47776F"/>
                </a:solidFill>
                <a:latin typeface="Avenir Next"/>
                <a:ea typeface="Avenir Next"/>
                <a:cs typeface="Avenir Next"/>
              </a:rPr>
              <a:t>04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1D125A4-8630-455A-840B-EB0A4F7B1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4610100"/>
            <a:ext cx="2667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0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20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20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20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20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20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20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20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20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20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0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pPr>
            <a:r>
              <a:rPr sz="2025" b="1">
                <a:solidFill>
                  <a:srgbClr val="243A40"/>
                </a:solidFill>
                <a:latin typeface="PingFang SC"/>
                <a:ea typeface="PingFang SC"/>
                <a:cs typeface="PingFang SC"/>
              </a:rPr>
              <a:t>任务保留与停止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FBD8FC4-8926-47F0-AD3B-7DED72186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5724525"/>
            <a:ext cx="34575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75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875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875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875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875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875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875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875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875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875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75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47776F"/>
                </a:solidFill>
                <a:latin typeface="PingFang SC"/>
                <a:ea typeface="PingFang SC"/>
                <a:cs typeface="PingFang SC"/>
              </a:rPr>
              <a:t>备份可验证，恢复有依据</a:t>
            </a:r>
          </a:p>
        </p:txBody>
      </p:sp>
    </p:spTree>
    <p:extLst>
      <p:ext uri="{BB962C8B-B14F-4D97-AF65-F5344CB8AC3E}">
        <p14:creationId xmlns:p14="http://schemas.microsoft.com/office/powerpoint/2010/main" val="172675234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2026-10-29T14:44:57.1150000Z</dcterms:created>
  <dcterms:modified xsi:type="dcterms:W3CDTF">2026-10-29T14:44:57.1160000Z</dcterms:modified>
</coreProperties>
</file>